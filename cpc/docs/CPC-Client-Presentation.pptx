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640080"/>
            <a:ext cx="512064" cy="512064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AE4DC"/>
                </a:solidFill>
                <a:latin typeface="Calibri"/>
              </a:rPr>
              <a:t>SMARTGRID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11680"/>
            <a:ext cx="11064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Utility Customer Digital Portal</a:t>
            </a:r>
          </a:p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CAE4DC"/>
                </a:solidFill>
                <a:latin typeface="Calibri"/>
              </a:rPr>
              <a:t>&amp; Customer Preference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94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FB6AD"/>
                </a:solidFill>
                <a:latin typeface="Calibri"/>
              </a:rPr>
              <a:t>Solution overview, development details, and the platform case for SAP BTP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AE4DC"/>
                </a:solidFill>
                <a:latin typeface="Calibri"/>
              </a:rPr>
              <a:t>Working demos live today  ·  Full documentation package  ·  CPI integration content imported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Calibri"/>
              </a:rPr>
              <a:t>The challenge: four systems, zero customer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A64"/>
                </a:solidFill>
                <a:latin typeface="Calibri"/>
              </a:rPr>
              <a:t>Preferences, programs, rates and usage live in different systems — customers and agents pay the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4650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2420"/>
                </a:solidFill>
                <a:latin typeface="Calibri"/>
              </a:rPr>
              <a:t>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A64"/>
                </a:solidFill>
                <a:latin typeface="Calibri"/>
              </a:rPr>
              <a:t>Communication preferences maintained by CSRs, invisible to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74650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2420"/>
                </a:solidFill>
                <a:latin typeface="Calibri"/>
              </a:rPr>
              <a:t>DRMS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031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A64"/>
                </a:solidFill>
                <a:latin typeface="Calibri"/>
              </a:rPr>
              <a:t>Program enrollment disconnected from the customer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200400"/>
            <a:ext cx="548640" cy="54864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7238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2420"/>
                </a:solidFill>
                <a:latin typeface="Calibri"/>
              </a:rPr>
              <a:t>S/4HANA / IS-U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2900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A64"/>
                </a:solidFill>
                <a:latin typeface="Calibri"/>
              </a:rPr>
              <a:t>Rates and billing with no self-service transparency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07238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2420"/>
                </a:solidFill>
                <a:latin typeface="Calibri"/>
              </a:rPr>
              <a:t>MDMS / AMI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42900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A64"/>
                </a:solidFill>
                <a:latin typeface="Calibri"/>
              </a:rPr>
              <a:t>Usage data never reaching the customer experience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80560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817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84A3E"/>
                </a:solidFill>
                <a:latin typeface="Calibri"/>
              </a:rPr>
              <a:t>The cost of fragmentation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749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indent="-137160" marL="137160">
              <a:spcAft>
                <a:spcPts val="600"/>
              </a:spcAft>
              <a:buChar char="•"/>
            </a:pPr>
            <a:r>
              <a:rPr sz="1350" b="0" i="0">
                <a:solidFill>
                  <a:srgbClr val="1A2420"/>
                </a:solidFill>
                <a:latin typeface="Calibri"/>
              </a:rPr>
              <a:t>Avoidable call volume — preference and rate questions that customers could self-serve</a:t>
            </a:r>
          </a:p>
          <a:p>
            <a:pPr algn="l" indent="-137160" marL="137160">
              <a:spcAft>
                <a:spcPts val="600"/>
              </a:spcAft>
              <a:buChar char="•"/>
            </a:pPr>
            <a:r>
              <a:rPr sz="1350" b="0" i="0">
                <a:solidFill>
                  <a:srgbClr val="1A2420"/>
                </a:solidFill>
                <a:latin typeface="Calibri"/>
              </a:rPr>
              <a:t>Compliance exposure — DNC and consent changes without a single audited record</a:t>
            </a:r>
          </a:p>
          <a:p>
            <a:pPr algn="l" indent="-137160" marL="137160">
              <a:spcAft>
                <a:spcPts val="600"/>
              </a:spcAft>
              <a:buChar char="•"/>
            </a:pPr>
            <a:r>
              <a:rPr sz="1350" b="0" i="0">
                <a:solidFill>
                  <a:srgbClr val="1A2420"/>
                </a:solidFill>
                <a:latin typeface="Calibri"/>
              </a:rPr>
              <a:t>Missed program and rate adoption — no personalized, eligibility-aware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Calibri"/>
              </a:rPr>
              <a:t>One customer experience, four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A64"/>
                </a:solidFill>
                <a:latin typeface="Calibri"/>
              </a:rPr>
              <a:t>A consumer-grade portal for customers — the same core embedded for CSRs in SAP Service Cloud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20240"/>
            <a:ext cx="475488" cy="475488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202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2420"/>
                </a:solidFill>
                <a:latin typeface="Calibri"/>
              </a:rPr>
              <a:t>Preference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95728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A64"/>
                </a:solidFill>
                <a:latin typeface="Calibri"/>
              </a:rPr>
              <a:t>Channels, billing, alerts, outage, marketing and privacy — BP-level DNC, end-dated history, full audit trail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920240"/>
            <a:ext cx="475488" cy="475488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9202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2420"/>
                </a:solidFill>
                <a:latin typeface="Calibri"/>
              </a:rPr>
              <a:t>Program Enrollment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395728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A64"/>
                </a:solidFill>
                <a:latin typeface="Calibri"/>
              </a:rPr>
              <a:t>Marketplace with a rules-based eligibility engine — efficiency, demand response, EV, solar, assistance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023359"/>
            <a:ext cx="475488" cy="475488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023359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2420"/>
                </a:solidFill>
                <a:latin typeface="Calibri"/>
              </a:rPr>
              <a:t>Rate 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498847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A64"/>
                </a:solidFill>
                <a:latin typeface="Calibri"/>
              </a:rPr>
              <a:t>Every eligible tariff priced on real usage; explainable recommendations; “what-if” simulator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8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4023359"/>
            <a:ext cx="475488" cy="475488"/>
          </a:xfrm>
          <a:prstGeom prst="ellipse">
            <a:avLst/>
          </a:prstGeom>
          <a:solidFill>
            <a:srgbClr val="B8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023359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2420"/>
                </a:solidFill>
                <a:latin typeface="Calibri"/>
              </a:rPr>
              <a:t>Event-driven 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498847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A64"/>
                </a:solidFill>
                <a:latin typeface="Calibri"/>
              </a:rPr>
              <a:t>Every outbound message resolved against preferences at send time — DNC honored everywhere, suppressions audited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84A3E"/>
                </a:solidFill>
                <a:latin typeface="Calibri"/>
              </a:rPr>
              <a:t>Customer self-service and the CSR agent view run the same application and the same rules — one write path, one audit.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Not a proposal — a working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E4DC"/>
                </a:solidFill>
                <a:latin typeface="Calibri"/>
              </a:rPr>
              <a:t>What exists and runs today, before any implementation project starts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CAE4DC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live demo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649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FB6AD"/>
                </a:solidFill>
                <a:latin typeface="Calibri"/>
              </a:rPr>
              <a:t>portal + preference center, mashup-ready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CAE4DC"/>
                </a:solidFill>
                <a:latin typeface="Calibri"/>
              </a:rPr>
              <a:t>29+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71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solution 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649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FB6AD"/>
                </a:solidFill>
                <a:latin typeface="Calibri"/>
              </a:rPr>
              <a:t>two combined documentation packages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7373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96596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CAE4DC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2971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CPI integration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33649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FB6AD"/>
                </a:solidFill>
                <a:latin typeface="Calibri"/>
              </a:rPr>
              <a:t>IF_CPC_02 already imported successfully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7373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196596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CAE4DC"/>
                </a:solidFill>
                <a:latin typeface="Calibri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971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preference types seeded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33649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FB6AD"/>
                </a:solidFill>
                <a:latin typeface="Calibri"/>
              </a:rPr>
              <a:t>BRFplus decision-table content workbook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34840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14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AE4DC"/>
                </a:solidFill>
                <a:latin typeface="Calibri"/>
              </a:rPr>
              <a:t>Verified, not claimed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2920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indent="-137160" marL="137160">
              <a:spcAft>
                <a:spcPts val="600"/>
              </a:spcAft>
              <a:buChar char="•"/>
            </a:pPr>
            <a:r>
              <a:rPr sz="1300" b="0" i="0">
                <a:solidFill>
                  <a:srgbClr val="D8E6E0"/>
                </a:solidFill>
                <a:latin typeface="Calibri"/>
              </a:rPr>
              <a:t>Rate math computed by a deterministic, tested engine — never hard-coded results</a:t>
            </a:r>
          </a:p>
          <a:p>
            <a:pPr algn="l" indent="-137160" marL="137160">
              <a:spcAft>
                <a:spcPts val="600"/>
              </a:spcAft>
              <a:buChar char="•"/>
            </a:pPr>
            <a:r>
              <a:rPr sz="1300" b="0" i="0">
                <a:solidFill>
                  <a:srgbClr val="D8E6E0"/>
                </a:solidFill>
                <a:latin typeface="Calibri"/>
              </a:rPr>
              <a:t>Preference model tested in-browser: end-dating, BP-level DNC fallback, BRF+ event auto-processing</a:t>
            </a:r>
          </a:p>
          <a:p>
            <a:pPr algn="l" indent="-137160" marL="137160">
              <a:spcAft>
                <a:spcPts val="600"/>
              </a:spcAft>
              <a:buChar char="•"/>
            </a:pPr>
            <a:r>
              <a:rPr sz="1300" b="0" i="0">
                <a:solidFill>
                  <a:srgbClr val="D8E6E0"/>
                </a:solidFill>
                <a:latin typeface="Calibri"/>
              </a:rPr>
              <a:t>Every named standard SAP artifact flagged [validate] against the target landscape — no invented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Calibri"/>
              </a:rPr>
              <a:t>Solution architecture on SAP BTP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A64"/>
                </a:solidFill>
                <a:latin typeface="Calibri"/>
              </a:rPr>
              <a:t>Front ends stay thin; logic and data live in S/4HANA — BTP is the managed integration and experience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Service Cloud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67128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B6A64"/>
                </a:solidFill>
                <a:latin typeface="Calibri"/>
              </a:rPr>
              <a:t>CSR case screen
URL mashup (live)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Customer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21608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B6A64"/>
                </a:solidFill>
                <a:latin typeface="Calibri"/>
              </a:rPr>
              <a:t>Self-service
same 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37360"/>
            <a:ext cx="2834640" cy="2926080"/>
          </a:xfrm>
          <a:prstGeom prst="roundRect">
            <a:avLst>
              <a:gd name="adj" fmla="val 6000"/>
            </a:avLst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84A3E"/>
                </a:solidFill>
                <a:latin typeface="Calibri"/>
              </a:rPr>
              <a:t>SAP BTP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67128"/>
            <a:ext cx="256032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B6A64"/>
                </a:solidFill>
                <a:latin typeface="Calibri"/>
              </a:rPr>
              <a:t>API Management — OAuth, quota
Integration Suite — 8 iFlows
Event Mesh — events + DLQ
IAS / XSUAA —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737360"/>
            <a:ext cx="2834640" cy="2926080"/>
          </a:xfrm>
          <a:prstGeom prst="roundRect">
            <a:avLst>
              <a:gd name="adj" fmla="val 6000"/>
            </a:avLst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8288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84A3E"/>
                </a:solidFill>
                <a:latin typeface="Calibri"/>
              </a:rPr>
              <a:t>SAP S/4HANA Utilities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167128"/>
            <a:ext cx="256032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B6A64"/>
                </a:solidFill>
                <a:latin typeface="Calibri"/>
              </a:rPr>
              <a:t>RAP OData service (custom)
Z-tables + CDS views — the data
BRFplus — rules &amp; decisions
Event enhancements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173736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182880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Providers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167128"/>
            <a:ext cx="1508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B6A64"/>
                </a:solidFill>
                <a:latin typeface="Calibri"/>
              </a:rPr>
              <a:t>email · SMS
voice · print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329184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8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33832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B8791A"/>
                </a:solidFill>
                <a:latin typeface="Calibri"/>
              </a:rPr>
              <a:t>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3721608"/>
            <a:ext cx="1508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B6A64"/>
                </a:solidFill>
                <a:latin typeface="Calibri"/>
              </a:rPr>
              <a:t>dialer · campaign
DNC lists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907792" y="2331720"/>
            <a:ext cx="292608" cy="201168"/>
          </a:xfrm>
          <a:prstGeom prst="rightArrow">
            <a:avLst/>
          </a:prstGeom>
          <a:solidFill>
            <a:srgbClr val="5B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2907792" y="3886200"/>
            <a:ext cx="292608" cy="201168"/>
          </a:xfrm>
          <a:prstGeom prst="rightArrow">
            <a:avLst/>
          </a:prstGeom>
          <a:solidFill>
            <a:srgbClr val="5B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6199632" y="3108960"/>
            <a:ext cx="292608" cy="201168"/>
          </a:xfrm>
          <a:prstGeom prst="rightArrow">
            <a:avLst/>
          </a:prstGeom>
          <a:solidFill>
            <a:srgbClr val="5B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9491472" y="2331720"/>
            <a:ext cx="292608" cy="201168"/>
          </a:xfrm>
          <a:prstGeom prst="rightArrow">
            <a:avLst/>
          </a:prstGeom>
          <a:solidFill>
            <a:srgbClr val="5B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9491472" y="3886200"/>
            <a:ext cx="292608" cy="201168"/>
          </a:xfrm>
          <a:prstGeom prst="rightArrow">
            <a:avLst/>
          </a:prstGeom>
          <a:solidFill>
            <a:srgbClr val="5B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138928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indent="-137160" marL="137160">
              <a:spcAft>
                <a:spcPts val="600"/>
              </a:spcAft>
              <a:buChar char="•"/>
            </a:pPr>
            <a:r>
              <a:rPr sz="1300" b="1" i="0">
                <a:solidFill>
                  <a:srgbClr val="1A2420"/>
                </a:solidFill>
                <a:latin typeface="Calibri"/>
              </a:rPr>
              <a:t>Preference data lives in exactly one place — S/4 tables behind the RAP service. BTP holds no business state.</a:t>
            </a:r>
          </a:p>
          <a:p>
            <a:pPr algn="l" indent="-137160" marL="137160">
              <a:spcAft>
                <a:spcPts val="600"/>
              </a:spcAft>
              <a:buChar char="•"/>
            </a:pPr>
            <a:r>
              <a:rPr sz="1300" b="0" i="0">
                <a:solidFill>
                  <a:srgbClr val="1A2420"/>
                </a:solidFill>
                <a:latin typeface="Calibri"/>
              </a:rPr>
              <a:t>Two front-end options, one core: Service Cloud V2 mashup (recommended) or on-stack S/4 CRM WebClient — swapping never touches data or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Calibri"/>
              </a:rPr>
              <a:t>Development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A64"/>
                </a:solidFill>
                <a:latin typeface="Calibri"/>
              </a:rPr>
              <a:t>Everything specified to build level — with working code where it already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733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368" y="167335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6608" y="16733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75688"/>
            <a:ext cx="11064240" cy="658368"/>
          </a:xfrm>
          <a:prstGeom prst="rect">
            <a:avLst/>
          </a:prstGeom>
          <a:solidFill>
            <a:srgbClr val="F4F7F5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57984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A2420"/>
                </a:solidFill>
                <a:latin typeface="Calibri"/>
              </a:rPr>
              <a:t>Front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157984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2420"/>
                </a:solidFill>
                <a:latin typeface="Calibri"/>
              </a:rPr>
              <a:t>Embeddable CPC app (CSR + customer modes, 4 mock customers) · portal demo (23 screens)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6608" y="215798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084A3E"/>
                </a:solidFill>
                <a:latin typeface="Calibri"/>
              </a:rPr>
              <a:t>Built &amp;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34056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1635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A2420"/>
                </a:solidFill>
                <a:latin typeface="Calibri"/>
              </a:rPr>
              <a:t>S/4 data &amp;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816352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2420"/>
                </a:solidFill>
                <a:latin typeface="Calibri"/>
              </a:rPr>
              <a:t>ZCPC_PREF / AUDIT / PREFTYPE tables · CDS views · RAP OData V4 service with 5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8" y="281635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084A3E"/>
                </a:solidFill>
                <a:latin typeface="Calibri"/>
              </a:rPr>
              <a:t>DDL delivered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92424"/>
            <a:ext cx="11064240" cy="658368"/>
          </a:xfrm>
          <a:prstGeom prst="rect">
            <a:avLst/>
          </a:prstGeom>
          <a:solidFill>
            <a:srgbClr val="F4F7F5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747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A2420"/>
                </a:solidFill>
                <a:latin typeface="Calibri"/>
              </a:rPr>
              <a:t>Rules (BRFplus)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47472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2420"/>
                </a:solidFill>
                <a:latin typeface="Calibri"/>
              </a:rPr>
              <a:t>ZCPC application: validate, resolve-channel, event auto-processing · seed workbook (24 types, DNC policy, event rules)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34747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084A3E"/>
                </a:solidFill>
                <a:latin typeface="Calibri"/>
              </a:rPr>
              <a:t>Design +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5079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3308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A2420"/>
                </a:solidFill>
                <a:latin typeface="Calibri"/>
              </a:rPr>
              <a:t>Integration (CPI)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4133088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2420"/>
                </a:solidFill>
                <a:latin typeface="Calibri"/>
              </a:rPr>
              <a:t>8 iFlows specified · 3 built as importable projects (save, DNC broadcast, dispatch)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413308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084A3E"/>
                </a:solidFill>
                <a:latin typeface="Calibri"/>
              </a:rPr>
              <a:t>IF_CPC_02 imported 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09160"/>
            <a:ext cx="11064240" cy="658368"/>
          </a:xfrm>
          <a:prstGeom prst="rect">
            <a:avLst/>
          </a:prstGeom>
          <a:solidFill>
            <a:srgbClr val="F4F7F5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791456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A2420"/>
                </a:solidFill>
                <a:latin typeface="Calibri"/>
              </a:rPr>
              <a:t>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4791456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2420"/>
                </a:solidFill>
                <a:latin typeface="Calibri"/>
              </a:rPr>
              <a:t>Move-in/out, BP-change, final-bill event handlers · outbound dispatch 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4791456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084A3E"/>
                </a:solidFill>
                <a:latin typeface="Calibri"/>
              </a:rPr>
              <a:t>Specified [validate]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6752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449824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A2420"/>
                </a:solidFill>
                <a:latin typeface="Calibri"/>
              </a:rP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5449824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2420"/>
                </a:solidFill>
                <a:latin typeface="Calibri"/>
              </a:rPr>
              <a:t>IAS/XSUAA roles · identity guard (JWT overrides payload) · insert-only audit · correlation IDs end-to-end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6608" y="544982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084A3E"/>
                </a:solidFill>
                <a:latin typeface="Calibri"/>
              </a:rPr>
              <a:t>Designed + in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Calibri"/>
              </a:rPr>
              <a:t>The write path: engineered for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A64"/>
                </a:solidFill>
                <a:latin typeface="Calibri"/>
              </a:rPr>
              <a:t>One save flow for portal and CSR — validated, attributed, audited, idempotent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947672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UI payload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58568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A64"/>
                </a:solidFill>
                <a:latin typeface="Calibri"/>
              </a:rPr>
              <a:t>request UUID per save attempt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916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947672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8072" y="1874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2258568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A64"/>
                </a:solidFill>
                <a:latin typeface="Calibri"/>
              </a:rPr>
              <a:t>OAuth validated, quota, correlation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916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1" y="1947672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4543" y="1874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Identity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3" y="2258568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A64"/>
                </a:solidFill>
                <a:latin typeface="Calibri"/>
              </a:rPr>
              <a:t>user &amp; role from the token — never the payload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547872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74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BRFplus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A64"/>
                </a:solidFill>
                <a:latin typeface="Calibri"/>
              </a:rPr>
              <a:t>mandatory types, channels, scope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32918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26280" y="3547872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3474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One unit of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3858768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A64"/>
                </a:solidFill>
                <a:latin typeface="Calibri"/>
              </a:rPr>
              <a:t>end-date + insert + audit — all or nothing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2918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2751" y="3547872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543" y="3474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Events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3" y="3858768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A64"/>
                </a:solidFill>
                <a:latin typeface="Calibri"/>
              </a:rPr>
              <a:t>PreferenceChanged · DncChanged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230368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indent="-137160" marL="137160">
              <a:spcAft>
                <a:spcPts val="600"/>
              </a:spcAft>
              <a:buChar char="•"/>
            </a:pPr>
            <a:r>
              <a:rPr sz="1350" b="0" i="0">
                <a:solidFill>
                  <a:srgbClr val="1A2420"/>
                </a:solidFill>
                <a:latin typeface="Calibri"/>
              </a:rPr>
              <a:t>Records are end-dated, never deleted — history is regulator-ready by construction</a:t>
            </a:r>
          </a:p>
          <a:p>
            <a:pPr algn="l" indent="-137160" marL="137160">
              <a:spcAft>
                <a:spcPts val="600"/>
              </a:spcAft>
              <a:buChar char="•"/>
            </a:pPr>
            <a:r>
              <a:rPr sz="1350" b="0" i="0">
                <a:solidFill>
                  <a:srgbClr val="1A2420"/>
                </a:solidFill>
                <a:latin typeface="Calibri"/>
              </a:rPr>
              <a:t>A client cannot spoof identity, save a foreign account, or half-apply a change — enforced server-side, proven by test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Calibri"/>
              </a:rPr>
              <a:t>Compliance is a feature, not an afterthought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A64"/>
                </a:solidFill>
                <a:latin typeface="Calibri"/>
              </a:rPr>
              <a:t>Do-Not-Call engineered end to end — the part regulators actually ask about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65376"/>
            <a:ext cx="402336" cy="402336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BP-level DNC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48840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A64"/>
                </a:solidFill>
                <a:latin typeface="Calibri"/>
              </a:rPr>
              <a:t>One record per customer governs every contract account; never reset by move-in/move-out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8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865376"/>
            <a:ext cx="402336" cy="402336"/>
          </a:xfrm>
          <a:prstGeom prst="ellipse">
            <a:avLst/>
          </a:prstGeom>
          <a:solidFill>
            <a:srgbClr val="B8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78308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Send-time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148840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A64"/>
                </a:solidFill>
                <a:latin typeface="Calibri"/>
              </a:rPr>
              <a:t>Every outbound message asks BRFplus at the moment of sending — a DNC set seconds ago suppresses the next 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27248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8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346704"/>
            <a:ext cx="402336" cy="402336"/>
          </a:xfrm>
          <a:prstGeom prst="ellipse">
            <a:avLst/>
          </a:prstGeom>
          <a:solidFill>
            <a:srgbClr val="B8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26440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Broadcast with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30168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A64"/>
                </a:solidFill>
                <a:latin typeface="Calibri"/>
              </a:rPr>
              <a:t>DNC changes distributed to dialer, campaign and print with per-target receipts written to the audit — SLA-provable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27248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3346704"/>
            <a:ext cx="402336" cy="402336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26440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Sequence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30168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A64"/>
                </a:solidFill>
                <a:latin typeface="Calibri"/>
              </a:rPr>
              <a:t>Per-customer ordering means ADD/REMOVE can never invert at a target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4828032"/>
            <a:ext cx="402336" cy="402336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74573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Daily reconciliation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111496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A64"/>
                </a:solidFill>
                <a:latin typeface="Calibri"/>
              </a:rPr>
              <a:t>S/4 snapshot vs each target's live list — drift auto-repaired and reported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08576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4828032"/>
            <a:ext cx="402336" cy="402336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474573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Suppressions audited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5111496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A64"/>
                </a:solidFill>
                <a:latin typeface="Calibri"/>
              </a:rPr>
              <a:t>Every not-sent message logged with its reason — proof the preference was honored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Calibri"/>
              </a:rPr>
              <a:t>Why SAP BTP for this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A64"/>
                </a:solidFill>
                <a:latin typeface="Calibri"/>
              </a:rPr>
              <a:t>The decisive advantages when your core is SAP S/4HANA Utilities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1353312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19656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190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S/4 integration is 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75688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B6A64"/>
                </a:solidFill>
                <a:latin typeface="Calibri"/>
              </a:rPr>
              <a:t>Destinations, Cloud Connector, principal propagation, event enablement — the real user reaches S/4 securely with configuration, not months of custom plumbing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1353312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819656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7190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Managed services, not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075688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B6A64"/>
                </a:solidFill>
                <a:latin typeface="Calibri"/>
              </a:rPr>
              <a:t>Identity (IAS), API management, integration runtime, event broker, monitoring — subscribed and SLA-backed, not built and patched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36391"/>
            <a:ext cx="5394960" cy="1353312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355847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55263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Clean-core alignment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11879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B6A64"/>
                </a:solidFill>
                <a:latin typeface="Calibri"/>
              </a:rPr>
              <a:t>RAP, CDS and BRFplus are SAP's sanctioned extension model — upgrades of S/4 don't strand the solution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36391"/>
            <a:ext cx="5394960" cy="1353312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3355847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55263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Compliance posture inherited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611879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B6A64"/>
                </a:solidFill>
                <a:latin typeface="Calibri"/>
              </a:rPr>
              <a:t>SAP's certifications, audit logging services, data-center compliance — inherited rather than re-certified per component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72583"/>
            <a:ext cx="5394960" cy="1353312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4892039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91455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One skill set, one vendor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48071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B6A64"/>
                </a:solidFill>
                <a:latin typeface="Calibri"/>
              </a:rPr>
              <a:t>ABAP/CDS + CPI + BTP skills your SAP team already grows; one support chain when something crosses the boundary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72583"/>
            <a:ext cx="5394960" cy="1353312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4892039"/>
            <a:ext cx="457200" cy="457200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791455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2420"/>
                </a:solidFill>
                <a:latin typeface="Calibri"/>
              </a:rPr>
              <a:t>Speed, demonstrated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148071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0" i="0">
                <a:solidFill>
                  <a:srgbClr val="5B6A64"/>
                </a:solidFill>
                <a:latin typeface="Calibri"/>
              </a:rPr>
              <a:t>The mashup, iFlows and rules content in this deck were produced against BTP patterns — IF_CPC_02 imported into CPI first 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Calibri"/>
              </a:rPr>
              <a:t>SAP BTP vs custom build (.NET / Java / Node)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A64"/>
                </a:solidFill>
                <a:latin typeface="Calibri"/>
              </a:rPr>
              <a:t>A fair comparison — judged for an SAP S/4HANA Utilities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7328" y="1618488"/>
            <a:ext cx="3977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SAP BTP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9288" y="1618488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Custom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1064240" cy="512064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6252"/>
            <a:ext cx="2834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1A2420"/>
                </a:solidFill>
                <a:latin typeface="Calibri"/>
              </a:rPr>
              <a:t>S/4 connectivity &amp;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016252"/>
            <a:ext cx="3977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084A3E"/>
                </a:solidFill>
                <a:latin typeface="Calibri"/>
              </a:rPr>
              <a:t>Destination service, principal propagation, Cloud Connector — 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016252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5B6A64"/>
                </a:solidFill>
                <a:latin typeface="Calibri"/>
              </a:rPr>
              <a:t>Hand-build OAuth flows, token exchange, network path, cert rotation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78024"/>
            <a:ext cx="11064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28316"/>
            <a:ext cx="2834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1A2420"/>
                </a:solidFill>
                <a:latin typeface="Calibri"/>
              </a:rPr>
              <a:t>Business user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528316"/>
            <a:ext cx="3977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084A3E"/>
                </a:solidFill>
                <a:latin typeface="Calibri"/>
              </a:rPr>
              <a:t>IAS + XSUAA, role collections, SSO to SAP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2528316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5B6A64"/>
                </a:solidFill>
                <a:latin typeface="Calibri"/>
              </a:rPr>
              <a:t>IdP integration + custom role model + per-app SSO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90088"/>
            <a:ext cx="11064240" cy="512064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40380"/>
            <a:ext cx="2834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1A2420"/>
                </a:solidFill>
                <a:latin typeface="Calibri"/>
              </a:rPr>
              <a:t>Integration &amp;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3040380"/>
            <a:ext cx="3977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084A3E"/>
                </a:solidFill>
                <a:latin typeface="Calibri"/>
              </a:rPr>
              <a:t>CPI runtime, connectors, Event Mesh with retry/DLQ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040380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5B6A64"/>
                </a:solidFill>
                <a:latin typeface="Calibri"/>
              </a:rPr>
              <a:t>Build/host ESB or queues; write retry, DLQ, monitoring yourself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02152"/>
            <a:ext cx="11064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52444"/>
            <a:ext cx="2834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1A2420"/>
                </a:solidFill>
                <a:latin typeface="Calibri"/>
              </a:rPr>
              <a:t>Rules the business can 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3552444"/>
            <a:ext cx="3977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084A3E"/>
                </a:solidFill>
                <a:latin typeface="Calibri"/>
              </a:rPr>
              <a:t>BRFplus workbench — admins maintain decision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3552444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5B6A64"/>
                </a:solidFill>
                <a:latin typeface="Calibri"/>
              </a:rPr>
              <a:t>Rules engine license or custom admin UI to build &amp; maintain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14216"/>
            <a:ext cx="11064240" cy="512064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064508"/>
            <a:ext cx="2834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1A2420"/>
                </a:solidFill>
                <a:latin typeface="Calibri"/>
              </a:rPr>
              <a:t>Upgrade coupling to S/4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4064508"/>
            <a:ext cx="3977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084A3E"/>
                </a:solidFill>
                <a:latin typeface="Calibri"/>
              </a:rPr>
              <a:t>Clean-core APIs; SAP maintains the contract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4064508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5B6A64"/>
                </a:solidFill>
                <a:latin typeface="Calibri"/>
              </a:rPr>
              <a:t>Every S/4 upgrade re-tests custom interface assumptions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26280"/>
            <a:ext cx="11064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576572"/>
            <a:ext cx="2834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1A2420"/>
                </a:solidFill>
                <a:latin typeface="Calibri"/>
              </a:rPr>
              <a:t>Ops &amp;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4576572"/>
            <a:ext cx="3977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084A3E"/>
                </a:solidFill>
                <a:latin typeface="Calibri"/>
              </a:rPr>
              <a:t>Cloud ALM, message monitoring, alerting included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4576572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5B6A64"/>
                </a:solidFill>
                <a:latin typeface="Calibri"/>
              </a:rPr>
              <a:t>Assemble APM, log stack, alerting; own the pager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38344"/>
            <a:ext cx="11064240" cy="512064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088636"/>
            <a:ext cx="2834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1A2420"/>
                </a:solidFill>
                <a:latin typeface="Calibri"/>
              </a:rPr>
              <a:t>License / run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5088636"/>
            <a:ext cx="3977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084A3E"/>
                </a:solidFill>
                <a:latin typeface="Calibri"/>
              </a:rPr>
              <a:t>BTP subscription (CPI, Event Mesh, runtime)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5088636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5B6A64"/>
                </a:solidFill>
                <a:latin typeface="Calibri"/>
              </a:rPr>
              <a:t>Lower license; higher build + maintain engineering cost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550408"/>
            <a:ext cx="11064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600700"/>
            <a:ext cx="2834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1A2420"/>
                </a:solidFill>
                <a:latin typeface="Calibri"/>
              </a:rPr>
              <a:t>Team flexibility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7328" y="5600700"/>
            <a:ext cx="3977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084A3E"/>
                </a:solidFill>
                <a:latin typeface="Calibri"/>
              </a:rPr>
              <a:t>SAP skill 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5600700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9" b="0" i="0">
                <a:solidFill>
                  <a:srgbClr val="5B6A64"/>
                </a:solidFill>
                <a:latin typeface="Calibri"/>
              </a:rPr>
              <a:t>Any stack, broader hiring pool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B6A64"/>
                </a:solidFill>
                <a:latin typeface="Calibri"/>
              </a:rPr>
              <a:t>Last two rows favor custom — an honest trade. The verdict turns on where your system of record lives.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the custom route really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E4DC"/>
                </a:solidFill>
                <a:latin typeface="Calibri"/>
              </a:rPr>
              <a:t>The invisible backlog a .NET/Java build must deliver before the first preference is ever saved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AE4DC"/>
                </a:solidFill>
                <a:latin typeface="Calibri"/>
              </a:rPr>
              <a:t>Secure S/4 connectivity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9FB6AD"/>
                </a:solidFill>
                <a:latin typeface="Calibri"/>
              </a:rPr>
              <a:t>network path, token exchange, principal propagation, cert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07208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169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AE4DC"/>
                </a:solidFill>
                <a:latin typeface="Calibri"/>
              </a:rPr>
              <a:t>Identity &amp;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6440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9FB6AD"/>
                </a:solidFill>
                <a:latin typeface="Calibri"/>
              </a:rPr>
              <a:t>customer + agent IdP federation, role model, session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22776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3250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AE4DC"/>
                </a:solidFill>
                <a:latin typeface="Calibri"/>
              </a:rPr>
              <a:t>Integration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7997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9FB6AD"/>
                </a:solidFill>
                <a:latin typeface="Calibri"/>
              </a:rPr>
              <a:t>retries, DLQs, idempotency, replay tooling, message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38344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4807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AE4DC"/>
                </a:solidFill>
                <a:latin typeface="Calibri"/>
              </a:rPr>
              <a:t>Rules maintenance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9554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9FB6AD"/>
                </a:solidFill>
                <a:latin typeface="Calibri"/>
              </a:rPr>
              <a:t>so business admins can change eligibility &amp; DNC policy without releases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9164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013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AE4DC"/>
                </a:solidFill>
                <a:latin typeface="Calibri"/>
              </a:rPr>
              <a:t>Audit &amp; compliance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9FB6AD"/>
                </a:solidFill>
                <a:latin typeface="Calibri"/>
              </a:rPr>
              <a:t>immutable history, retention, DSR support, evidence reporting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807208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9169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AE4DC"/>
                </a:solidFill>
                <a:latin typeface="Calibri"/>
              </a:rPr>
              <a:t>Event handling from S/4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6440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9FB6AD"/>
                </a:solidFill>
                <a:latin typeface="Calibri"/>
              </a:rPr>
              <a:t>move-in/out, BP change — polling or custom event bridges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22776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3250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AE4DC"/>
                </a:solidFill>
                <a:latin typeface="Calibri"/>
              </a:rPr>
              <a:t>Ops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7997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9FB6AD"/>
                </a:solidFill>
                <a:latin typeface="Calibri"/>
              </a:rPr>
              <a:t>APM, logs, alerting, on-call runbooks for every custom component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038344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14807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AE4DC"/>
                </a:solidFill>
                <a:latin typeface="Calibri"/>
              </a:rPr>
              <a:t>Perpetual re-testing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49554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9FB6AD"/>
                </a:solidFill>
                <a:latin typeface="Calibri"/>
              </a:rPr>
              <a:t>every S/4 upgrade or patch revisits every hand-built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AE4DC"/>
                </a:solidFill>
                <a:latin typeface="Calibri"/>
              </a:rPr>
              <a:t>On BTP, every item above is a subscribed service or a sanctioned extension pattern — the project budget goes into the solution, not the plumbing.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Calibri"/>
              </a:rPr>
              <a:t>When would custom still be right?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A64"/>
                </a:solidFill>
                <a:latin typeface="Calibri"/>
              </a:rPr>
              <a:t>Credibility check — we recommend BTP because of your landscape, not by default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Custom (.NET/Java) makes sense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indent="-137160" marL="137160">
              <a:spcAft>
                <a:spcPts val="1000"/>
              </a:spcAft>
              <a:buChar char="•"/>
            </a:pPr>
            <a:r>
              <a:rPr sz="1250" b="0" i="0">
                <a:solidFill>
                  <a:srgbClr val="1A2420"/>
                </a:solidFill>
                <a:latin typeface="Calibri"/>
              </a:rPr>
              <a:t>The core systems are not SAP — no S/4, no SAP identity landscape</a:t>
            </a:r>
          </a:p>
          <a:p>
            <a:pPr algn="l" indent="-137160" marL="137160">
              <a:spcAft>
                <a:spcPts val="1000"/>
              </a:spcAft>
              <a:buChar char="•"/>
            </a:pPr>
            <a:r>
              <a:rPr sz="1250" b="0" i="0">
                <a:solidFill>
                  <a:srgbClr val="1A2420"/>
                </a:solidFill>
                <a:latin typeface="Calibri"/>
              </a:rPr>
              <a:t>A strong in-house .NET/Java platform team already runs a mature cloud estate</a:t>
            </a:r>
          </a:p>
          <a:p>
            <a:pPr algn="l" indent="-137160" marL="137160">
              <a:spcAft>
                <a:spcPts val="1000"/>
              </a:spcAft>
              <a:buChar char="•"/>
            </a:pPr>
            <a:r>
              <a:rPr sz="1250" b="0" i="0">
                <a:solidFill>
                  <a:srgbClr val="1A2420"/>
                </a:solidFill>
                <a:latin typeface="Calibri"/>
              </a:rPr>
              <a:t>Subscription cost dominates and engineering time is treated as free</a:t>
            </a:r>
          </a:p>
          <a:p>
            <a:pPr algn="l" indent="-137160" marL="137160">
              <a:spcAft>
                <a:spcPts val="1000"/>
              </a:spcAft>
              <a:buChar char="•"/>
            </a:pPr>
            <a:r>
              <a:rPr sz="1250" b="0" i="0">
                <a:solidFill>
                  <a:srgbClr val="1A2420"/>
                </a:solidFill>
                <a:latin typeface="Calibri"/>
              </a:rPr>
              <a:t>The portal is a stand-alone product, not an extension of the SAP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84A3E"/>
                </a:solidFill>
                <a:latin typeface="Calibri"/>
              </a:rPr>
              <a:t>Your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indent="-137160" marL="137160">
              <a:spcAft>
                <a:spcPts val="1000"/>
              </a:spcAft>
              <a:buChar char="•"/>
            </a:pPr>
            <a:r>
              <a:rPr sz="1250" b="0" i="0">
                <a:solidFill>
                  <a:srgbClr val="1A2420"/>
                </a:solidFill>
                <a:latin typeface="Calibri"/>
              </a:rPr>
              <a:t>System of record is SAP S/4HANA Utilities — BP, contract accounts, tariffs, billing</a:t>
            </a:r>
          </a:p>
          <a:p>
            <a:pPr algn="l" indent="-137160" marL="137160">
              <a:spcAft>
                <a:spcPts val="1000"/>
              </a:spcAft>
              <a:buChar char="•"/>
            </a:pPr>
            <a:r>
              <a:rPr sz="1250" b="0" i="0">
                <a:solidFill>
                  <a:srgbClr val="1A2420"/>
                </a:solidFill>
                <a:latin typeface="Calibri"/>
              </a:rPr>
              <a:t>Agent desktop is SAP Service Cloud V2 — the mashup is already configured and tested</a:t>
            </a:r>
          </a:p>
          <a:p>
            <a:pPr algn="l" indent="-137160" marL="137160">
              <a:spcAft>
                <a:spcPts val="1000"/>
              </a:spcAft>
              <a:buChar char="•"/>
            </a:pPr>
            <a:r>
              <a:rPr sz="1250" b="0" i="0">
                <a:solidFill>
                  <a:srgbClr val="1A2420"/>
                </a:solidFill>
                <a:latin typeface="Calibri"/>
              </a:rPr>
              <a:t>Rules belong to business admins — BRFplus gives them the workbench</a:t>
            </a:r>
          </a:p>
          <a:p>
            <a:pPr algn="l" indent="-137160" marL="137160">
              <a:spcAft>
                <a:spcPts val="1000"/>
              </a:spcAft>
              <a:buChar char="•"/>
            </a:pPr>
            <a:r>
              <a:rPr sz="1250" b="0" i="0">
                <a:solidFill>
                  <a:srgbClr val="1A2420"/>
                </a:solidFill>
                <a:latin typeface="Calibri"/>
              </a:rPr>
              <a:t>Compliance (DNC, consent, audit) must be provable across SAP and non-SAP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84A3E"/>
                </a:solidFill>
                <a:latin typeface="Calibri"/>
              </a:rPr>
              <a:t>Conclusion: for an S/4HANA Utilities core with Service Cloud V2 agents, BTP is the lower-risk, lower-total-cost path.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Calibri"/>
              </a:rPr>
              <a:t>Delivery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A64"/>
                </a:solidFill>
                <a:latin typeface="Calibri"/>
              </a:rPr>
              <a:t>Indicative — refined in a one-week discovery that validates landscape-dependent items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47088"/>
            <a:ext cx="512064" cy="512064"/>
          </a:xfrm>
          <a:prstGeom prst="ellipse">
            <a:avLst/>
          </a:prstGeom>
          <a:solidFill>
            <a:srgbClr val="B8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645920"/>
            <a:ext cx="10195560" cy="9144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75564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Discovery &amp; validation   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84A3E"/>
                </a:solidFill>
                <a:latin typeface="Calibri"/>
              </a:rPr>
              <a:t>~1 wk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21408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A64"/>
                </a:solidFill>
                <a:latin typeface="Calibri"/>
              </a:rPr>
              <a:t>Confirm S/4 release APIs &amp; event mechanism, option A/B, master-data source, workbook sign-off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26080"/>
            <a:ext cx="512064" cy="512064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724912"/>
            <a:ext cx="10195560" cy="9144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8346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S/4 core   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84A3E"/>
                </a:solidFill>
                <a:latin typeface="Calibri"/>
              </a:rPr>
              <a:t>6–8 wks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0040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A64"/>
                </a:solidFill>
                <a:latin typeface="Calibri"/>
              </a:rPr>
              <a:t>Tables, CDS, RAP service, BRFplus app + seed content, event enhancements, roles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05072"/>
            <a:ext cx="512064" cy="512064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803904"/>
            <a:ext cx="10195560" cy="9144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91363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BTP &amp; Service Cloud   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84A3E"/>
                </a:solidFill>
                <a:latin typeface="Calibri"/>
              </a:rPr>
              <a:t>3–4 wks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79392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A64"/>
                </a:solidFill>
                <a:latin typeface="Calibri"/>
              </a:rPr>
              <a:t>Deploy iFlows, Event Mesh queues, destinations, mashup rollout, providers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084064"/>
            <a:ext cx="512064" cy="512064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4882896"/>
            <a:ext cx="10195560" cy="9144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99262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2420"/>
                </a:solidFill>
                <a:latin typeface="Calibri"/>
              </a:rPr>
              <a:t>Migrate &amp; cut over   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84A3E"/>
                </a:solidFill>
                <a:latin typeface="Calibri"/>
              </a:rPr>
              <a:t>3–4 wks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358384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A64"/>
                </a:solidFill>
                <a:latin typeface="Calibri"/>
              </a:rPr>
              <a:t>Legacy preference migration, reconciliation, parallel-run, go-live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603504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84A3E"/>
                </a:solidFill>
                <a:latin typeface="Calibri"/>
              </a:rPr>
              <a:t>Total: ~13–18 weeks to production (Option A).  Option B (S/4 CRM WebClient front end) adds ~3 weeks.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1907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See it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396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FB6AD"/>
                </a:solidFill>
                <a:latin typeface="Calibri"/>
              </a:rPr>
              <a:t>Walk the portal and the Service Cloud V2 preference mashup with your CSR team (links below)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71800"/>
            <a:ext cx="566928" cy="566928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5351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One-week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7413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FB6AD"/>
                </a:solidFill>
                <a:latin typeface="Calibri"/>
              </a:rPr>
              <a:t>Validate the landscape-dependent items and confirm Option A scope &amp; commercials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566928" cy="566928"/>
          </a:xfrm>
          <a:prstGeom prst="ellipse">
            <a:avLst/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8795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Mobilize 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60857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FB6AD"/>
                </a:solidFill>
                <a:latin typeface="Calibri"/>
              </a:rPr>
              <a:t>S/4 core build starts with the delivered DDL, CDS, BRFplus content and iFlow projects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4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4864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AE4DC"/>
                </a:solidFill>
                <a:latin typeface="Calibri"/>
              </a:rPr>
              <a:t>Live demos:  nammi2011.github.io/Smart-Grid-Portal  ·  /cpc/   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9FB6AD"/>
                </a:solidFill>
                <a:latin typeface="Calibri"/>
              </a:rPr>
              <a:t>Full documentation, DDL, seed workbook and CPI projects accompany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