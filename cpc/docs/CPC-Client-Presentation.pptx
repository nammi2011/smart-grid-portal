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8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66928" y="640080"/>
            <a:ext cx="512064" cy="512064"/>
          </a:xfrm>
          <a:prstGeom prst="ellipse">
            <a:avLst/>
          </a:prstGeom>
          <a:solidFill>
            <a:srgbClr val="0A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713232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CAE4DC"/>
                </a:solidFill>
                <a:latin typeface="Calibri"/>
              </a:rPr>
              <a:t>SMARTGRID ENERGY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011680"/>
            <a:ext cx="110642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Utility Customer Digital Portal</a:t>
            </a:r>
          </a:p>
          <a:p>
            <a:pPr algn="l">
              <a:spcAft>
                <a:spcPts val="200"/>
              </a:spcAft>
            </a:pPr>
            <a:r>
              <a:rPr sz="4400" b="1" i="0">
                <a:solidFill>
                  <a:srgbClr val="CAE4DC"/>
                </a:solidFill>
                <a:latin typeface="Calibri"/>
              </a:rPr>
              <a:t>&amp; Customer Preference Center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79476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FB6AD"/>
                </a:solidFill>
                <a:latin typeface="Calibri"/>
              </a:rPr>
              <a:t>Solution overview, development details, and the platform case for SAP BTP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6235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CAE4DC"/>
                </a:solidFill>
                <a:latin typeface="Calibri"/>
              </a:rPr>
              <a:t>Working demos live today  ·  Full documentation package  ·  CPI integration content imported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A2420"/>
                </a:solidFill>
                <a:latin typeface="Calibri"/>
              </a:rPr>
              <a:t>The challenge: four systems, zero customer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A64"/>
                </a:solidFill>
                <a:latin typeface="Calibri"/>
              </a:rPr>
              <a:t>Preferences, programs, rates and usage live in different systems — customers and agents pay the price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394960" cy="1097280"/>
          </a:xfrm>
          <a:prstGeom prst="roundRect">
            <a:avLst>
              <a:gd name="adj" fmla="val 6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1874520"/>
            <a:ext cx="548640" cy="548640"/>
          </a:xfrm>
          <a:prstGeom prst="ellipse">
            <a:avLst/>
          </a:prstGeom>
          <a:solidFill>
            <a:srgbClr val="0A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74650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A2420"/>
                </a:solidFill>
                <a:latin typeface="Calibri"/>
              </a:rPr>
              <a:t>CRM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4206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B6A64"/>
                </a:solidFill>
                <a:latin typeface="Calibri"/>
              </a:rPr>
              <a:t>Communication preferences maintained by CSRs, invisible to customers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00200"/>
            <a:ext cx="5394960" cy="1097280"/>
          </a:xfrm>
          <a:prstGeom prst="roundRect">
            <a:avLst>
              <a:gd name="adj" fmla="val 6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46520" y="1874520"/>
            <a:ext cx="548640" cy="548640"/>
          </a:xfrm>
          <a:prstGeom prst="ellipse">
            <a:avLst/>
          </a:prstGeom>
          <a:solidFill>
            <a:srgbClr val="0A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174650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A2420"/>
                </a:solidFill>
                <a:latin typeface="Calibri"/>
              </a:rPr>
              <a:t>DRMS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2103120"/>
            <a:ext cx="4206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B6A64"/>
                </a:solidFill>
                <a:latin typeface="Calibri"/>
              </a:rPr>
              <a:t>Program enrollment disconnected from the customer 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926080"/>
            <a:ext cx="5394960" cy="1097280"/>
          </a:xfrm>
          <a:prstGeom prst="roundRect">
            <a:avLst>
              <a:gd name="adj" fmla="val 6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" y="3200400"/>
            <a:ext cx="548640" cy="548640"/>
          </a:xfrm>
          <a:prstGeom prst="ellipse">
            <a:avLst/>
          </a:prstGeom>
          <a:solidFill>
            <a:srgbClr val="0A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07238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A2420"/>
                </a:solidFill>
                <a:latin typeface="Calibri"/>
              </a:rPr>
              <a:t>S/4HANA / IS-U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29000"/>
            <a:ext cx="4206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B6A64"/>
                </a:solidFill>
                <a:latin typeface="Calibri"/>
              </a:rPr>
              <a:t>Rates and billing with no self-service transparency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2926080"/>
            <a:ext cx="5394960" cy="1097280"/>
          </a:xfrm>
          <a:prstGeom prst="roundRect">
            <a:avLst>
              <a:gd name="adj" fmla="val 6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46520" y="3200400"/>
            <a:ext cx="548640" cy="548640"/>
          </a:xfrm>
          <a:prstGeom prst="ellipse">
            <a:avLst/>
          </a:prstGeom>
          <a:solidFill>
            <a:srgbClr val="0A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307238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A2420"/>
                </a:solidFill>
                <a:latin typeface="Calibri"/>
              </a:rPr>
              <a:t>MDMS / AMI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3429000"/>
            <a:ext cx="4206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B6A64"/>
                </a:solidFill>
                <a:latin typeface="Calibri"/>
              </a:rPr>
              <a:t>Usage data never reaching the customer experience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480560"/>
            <a:ext cx="11064240" cy="1737360"/>
          </a:xfrm>
          <a:prstGeom prst="roundRect">
            <a:avLst>
              <a:gd name="adj" fmla="val 6000"/>
            </a:avLst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681728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84A3E"/>
                </a:solidFill>
                <a:latin typeface="Calibri"/>
              </a:rPr>
              <a:t>The cost of fragmentation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074920"/>
            <a:ext cx="10424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indent="-137160" marL="137160">
              <a:spcAft>
                <a:spcPts val="600"/>
              </a:spcAft>
              <a:buChar char="•"/>
            </a:pPr>
            <a:r>
              <a:rPr sz="1350" b="0" i="0">
                <a:solidFill>
                  <a:srgbClr val="1A2420"/>
                </a:solidFill>
                <a:latin typeface="Calibri"/>
              </a:rPr>
              <a:t>Avoidable call volume — preference and rate questions that customers could self-serve</a:t>
            </a:r>
          </a:p>
          <a:p>
            <a:pPr algn="l" indent="-137160" marL="137160">
              <a:spcAft>
                <a:spcPts val="600"/>
              </a:spcAft>
              <a:buChar char="•"/>
            </a:pPr>
            <a:r>
              <a:rPr sz="1350" b="0" i="0">
                <a:solidFill>
                  <a:srgbClr val="1A2420"/>
                </a:solidFill>
                <a:latin typeface="Calibri"/>
              </a:rPr>
              <a:t>Compliance exposure — DNC and consent changes without a single audited record</a:t>
            </a:r>
          </a:p>
          <a:p>
            <a:pPr algn="l" indent="-137160" marL="137160">
              <a:spcAft>
                <a:spcPts val="600"/>
              </a:spcAft>
              <a:buChar char="•"/>
            </a:pPr>
            <a:r>
              <a:rPr sz="1350" b="0" i="0">
                <a:solidFill>
                  <a:srgbClr val="1A2420"/>
                </a:solidFill>
                <a:latin typeface="Calibri"/>
              </a:rPr>
              <a:t>Missed program and rate adoption — no personalized, eligibility-aware experience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A2420"/>
                </a:solidFill>
                <a:latin typeface="Calibri"/>
              </a:rPr>
              <a:t>One customer experience, four capabilities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A64"/>
                </a:solidFill>
                <a:latin typeface="Calibri"/>
              </a:rPr>
              <a:t>A consumer-grade portal for customers — the same core embedded for CSRs in SAP Service Cloud V2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94960" cy="1874519"/>
          </a:xfrm>
          <a:prstGeom prst="roundRect">
            <a:avLst>
              <a:gd name="adj" fmla="val 6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1920240"/>
            <a:ext cx="475488" cy="475488"/>
          </a:xfrm>
          <a:prstGeom prst="ellipse">
            <a:avLst/>
          </a:prstGeom>
          <a:solidFill>
            <a:srgbClr val="0A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92024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A2420"/>
                </a:solidFill>
                <a:latin typeface="Calibri"/>
              </a:rPr>
              <a:t>Preference Center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4206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B6A64"/>
                </a:solidFill>
                <a:latin typeface="Calibri"/>
              </a:rPr>
              <a:t>Channels, billing, alerts, outage, marketing and privacy — BP-level DNC, end-dated history, full audit trail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394960" cy="1874519"/>
          </a:xfrm>
          <a:prstGeom prst="roundRect">
            <a:avLst>
              <a:gd name="adj" fmla="val 6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92240" y="1920240"/>
            <a:ext cx="475488" cy="475488"/>
          </a:xfrm>
          <a:prstGeom prst="ellipse">
            <a:avLst/>
          </a:prstGeom>
          <a:solidFill>
            <a:srgbClr val="0A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78040" y="192024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A2420"/>
                </a:solidFill>
                <a:latin typeface="Calibri"/>
              </a:rPr>
              <a:t>Program Enrollment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2395728"/>
            <a:ext cx="4206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B6A64"/>
                </a:solidFill>
                <a:latin typeface="Calibri"/>
              </a:rPr>
              <a:t>Marketplace with a rules-based eligibility engine — efficiency, demand response, EV, solar, assistance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749039"/>
            <a:ext cx="5394960" cy="1874519"/>
          </a:xfrm>
          <a:prstGeom prst="roundRect">
            <a:avLst>
              <a:gd name="adj" fmla="val 6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2960" y="4023359"/>
            <a:ext cx="475488" cy="475488"/>
          </a:xfrm>
          <a:prstGeom prst="ellipse">
            <a:avLst/>
          </a:prstGeom>
          <a:solidFill>
            <a:srgbClr val="0A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4023359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A2420"/>
                </a:solidFill>
                <a:latin typeface="Calibri"/>
              </a:rPr>
              <a:t>Rate Analyzer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4498847"/>
            <a:ext cx="4206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B6A64"/>
                </a:solidFill>
                <a:latin typeface="Calibri"/>
              </a:rPr>
              <a:t>Every eligible tariff priced on real usage; explainable recommendations; “what-if” simulator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749039"/>
            <a:ext cx="5394960" cy="1874519"/>
          </a:xfrm>
          <a:prstGeom prst="roundRect">
            <a:avLst>
              <a:gd name="adj" fmla="val 6000"/>
            </a:avLst>
          </a:prstGeom>
          <a:solidFill>
            <a:srgbClr val="F8E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92240" y="4023359"/>
            <a:ext cx="475488" cy="475488"/>
          </a:xfrm>
          <a:prstGeom prst="ellipse">
            <a:avLst/>
          </a:prstGeom>
          <a:solidFill>
            <a:srgbClr val="B879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4023359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A2420"/>
                </a:solidFill>
                <a:latin typeface="Calibri"/>
              </a:rPr>
              <a:t>Event-driven communication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4498847"/>
            <a:ext cx="4206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B6A64"/>
                </a:solidFill>
                <a:latin typeface="Calibri"/>
              </a:rPr>
              <a:t>Every outbound message resolved against preferences at send time — DNC honored everywhere, suppressions audited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084A3E"/>
                </a:solidFill>
                <a:latin typeface="Calibri"/>
              </a:rPr>
              <a:t>Customer self-service and the CSR agent view run the same application and the same rules — one write path, one audit.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Not a proposal — a working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CAE4DC"/>
                </a:solidFill>
                <a:latin typeface="Calibri"/>
              </a:rPr>
              <a:t>What exists and runs today, before any implementation project starts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2651760" cy="2286000"/>
          </a:xfrm>
          <a:prstGeom prst="roundRect">
            <a:avLst>
              <a:gd name="adj" fmla="val 6000"/>
            </a:avLst>
          </a:prstGeom>
          <a:solidFill>
            <a:srgbClr val="1B2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 i="0">
                <a:solidFill>
                  <a:srgbClr val="CAE4DC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718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live demo applications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64992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9FB6AD"/>
                </a:solidFill>
                <a:latin typeface="Calibri"/>
              </a:rPr>
              <a:t>portal + preference center, mashup-ready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737360"/>
            <a:ext cx="2651760" cy="2286000"/>
          </a:xfrm>
          <a:prstGeom prst="roundRect">
            <a:avLst>
              <a:gd name="adj" fmla="val 6000"/>
            </a:avLst>
          </a:prstGeom>
          <a:solidFill>
            <a:srgbClr val="1B2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29000" y="1965960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 i="0">
                <a:solidFill>
                  <a:srgbClr val="CAE4DC"/>
                </a:solidFill>
                <a:latin typeface="Calibri"/>
              </a:rPr>
              <a:t>29+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9718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solution deliverables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3364992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9FB6AD"/>
                </a:solidFill>
                <a:latin typeface="Calibri"/>
              </a:rPr>
              <a:t>two combined documentation packages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1737360"/>
            <a:ext cx="2651760" cy="2286000"/>
          </a:xfrm>
          <a:prstGeom prst="roundRect">
            <a:avLst>
              <a:gd name="adj" fmla="val 6000"/>
            </a:avLst>
          </a:prstGeom>
          <a:solidFill>
            <a:srgbClr val="1B2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1965960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 i="0">
                <a:solidFill>
                  <a:srgbClr val="CAE4DC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39" y="29718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CPI integration flows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39" y="3364992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9FB6AD"/>
                </a:solidFill>
                <a:latin typeface="Calibri"/>
              </a:rPr>
              <a:t>IF_CPC_02 already imported successfully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9719" y="1737360"/>
            <a:ext cx="2651760" cy="2286000"/>
          </a:xfrm>
          <a:prstGeom prst="roundRect">
            <a:avLst>
              <a:gd name="adj" fmla="val 6000"/>
            </a:avLst>
          </a:prstGeom>
          <a:solidFill>
            <a:srgbClr val="1B2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89719" y="1965960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 i="0">
                <a:solidFill>
                  <a:srgbClr val="CAE4DC"/>
                </a:solidFill>
                <a:latin typeface="Calibri"/>
              </a:rPr>
              <a:t>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599" y="29718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preference types seeded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599" y="3364992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9FB6AD"/>
                </a:solidFill>
                <a:latin typeface="Calibri"/>
              </a:rPr>
              <a:t>BRFplus decision-table content workbook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434840"/>
            <a:ext cx="11064240" cy="1737360"/>
          </a:xfrm>
          <a:prstGeom prst="roundRect">
            <a:avLst>
              <a:gd name="adj" fmla="val 6000"/>
            </a:avLst>
          </a:prstGeom>
          <a:solidFill>
            <a:srgbClr val="142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617720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AE4DC"/>
                </a:solidFill>
                <a:latin typeface="Calibri"/>
              </a:rPr>
              <a:t>Verified, not claimed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029200"/>
            <a:ext cx="10424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indent="-137160" marL="137160">
              <a:spcAft>
                <a:spcPts val="600"/>
              </a:spcAft>
              <a:buChar char="•"/>
            </a:pPr>
            <a:r>
              <a:rPr sz="1300" b="0" i="0">
                <a:solidFill>
                  <a:srgbClr val="D8E6E0"/>
                </a:solidFill>
                <a:latin typeface="Calibri"/>
              </a:rPr>
              <a:t>Rate math computed by a deterministic, tested engine — never hard-coded results</a:t>
            </a:r>
          </a:p>
          <a:p>
            <a:pPr algn="l" indent="-137160" marL="137160">
              <a:spcAft>
                <a:spcPts val="600"/>
              </a:spcAft>
              <a:buChar char="•"/>
            </a:pPr>
            <a:r>
              <a:rPr sz="1300" b="0" i="0">
                <a:solidFill>
                  <a:srgbClr val="D8E6E0"/>
                </a:solidFill>
                <a:latin typeface="Calibri"/>
              </a:rPr>
              <a:t>Preference model tested in-browser: end-dating, BP-level DNC fallback, BRF+ event auto-processing</a:t>
            </a:r>
          </a:p>
          <a:p>
            <a:pPr algn="l" indent="-137160" marL="137160">
              <a:spcAft>
                <a:spcPts val="600"/>
              </a:spcAft>
              <a:buChar char="•"/>
            </a:pPr>
            <a:r>
              <a:rPr sz="1300" b="0" i="0">
                <a:solidFill>
                  <a:srgbClr val="D8E6E0"/>
                </a:solidFill>
                <a:latin typeface="Calibri"/>
              </a:rPr>
              <a:t>Every named standard SAP artifact flagged [validate] against the target landscape — no invented APIs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A2420"/>
                </a:solidFill>
                <a:latin typeface="Calibri"/>
              </a:rPr>
              <a:t>Solution architecture on SAP BTP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A64"/>
                </a:solidFill>
                <a:latin typeface="Calibri"/>
              </a:rPr>
              <a:t>Front ends stay thin; logic and data live in S/4HANA — BTP is the managed integration and experience layer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2286000" cy="1371600"/>
          </a:xfrm>
          <a:prstGeom prst="roundRect">
            <a:avLst>
              <a:gd name="adj" fmla="val 6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A2420"/>
                </a:solidFill>
                <a:latin typeface="Calibri"/>
              </a:rPr>
              <a:t>Service Cloud V2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67128"/>
            <a:ext cx="20116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5B6A64"/>
                </a:solidFill>
                <a:latin typeface="Calibri"/>
              </a:rPr>
              <a:t>CSR case screen
URL mashup (live)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91840"/>
            <a:ext cx="2286000" cy="1371600"/>
          </a:xfrm>
          <a:prstGeom prst="roundRect">
            <a:avLst>
              <a:gd name="adj" fmla="val 6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38328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A2420"/>
                </a:solidFill>
                <a:latin typeface="Calibri"/>
              </a:rPr>
              <a:t>Customer Portal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721608"/>
            <a:ext cx="20116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5B6A64"/>
                </a:solidFill>
                <a:latin typeface="Calibri"/>
              </a:rPr>
              <a:t>Self-service
same application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1737360"/>
            <a:ext cx="2834640" cy="2926080"/>
          </a:xfrm>
          <a:prstGeom prst="roundRect">
            <a:avLst>
              <a:gd name="adj" fmla="val 6000"/>
            </a:avLst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82880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084A3E"/>
                </a:solidFill>
                <a:latin typeface="Calibri"/>
              </a:rPr>
              <a:t>SAP BTP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2167128"/>
            <a:ext cx="2560320" cy="2423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5B6A64"/>
                </a:solidFill>
                <a:latin typeface="Calibri"/>
              </a:rPr>
              <a:t>API Management — OAuth, quota
Integration Suite — 8 iFlows
Event Mesh — events + DLQ
IAS / XSUAA — identity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0" y="1737360"/>
            <a:ext cx="2834640" cy="2926080"/>
          </a:xfrm>
          <a:prstGeom prst="roundRect">
            <a:avLst>
              <a:gd name="adj" fmla="val 6000"/>
            </a:avLst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20840" y="182880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084A3E"/>
                </a:solidFill>
                <a:latin typeface="Calibri"/>
              </a:rPr>
              <a:t>SAP S/4HANA Utilities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167128"/>
            <a:ext cx="2560320" cy="2423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5B6A64"/>
                </a:solidFill>
                <a:latin typeface="Calibri"/>
              </a:rPr>
              <a:t>RAP OData service (custom)
Z-tables + CDS views — the data
BRFplus — rules &amp; decisions
Event enhancements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875520" y="1737360"/>
            <a:ext cx="1783080" cy="1371600"/>
          </a:xfrm>
          <a:prstGeom prst="roundRect">
            <a:avLst>
              <a:gd name="adj" fmla="val 6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12680" y="1828800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A2420"/>
                </a:solidFill>
                <a:latin typeface="Calibri"/>
              </a:rPr>
              <a:t>Providers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12680" y="2167128"/>
            <a:ext cx="15087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5B6A64"/>
                </a:solidFill>
                <a:latin typeface="Calibri"/>
              </a:rPr>
              <a:t>email · SMS
voice · print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75520" y="3291840"/>
            <a:ext cx="1783080" cy="1371600"/>
          </a:xfrm>
          <a:prstGeom prst="roundRect">
            <a:avLst>
              <a:gd name="adj" fmla="val 6000"/>
            </a:avLst>
          </a:prstGeom>
          <a:solidFill>
            <a:srgbClr val="F8E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12680" y="3383280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B8791A"/>
                </a:solidFill>
                <a:latin typeface="Calibri"/>
              </a:rPr>
              <a:t>Compliance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12680" y="3721608"/>
            <a:ext cx="15087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5B6A64"/>
                </a:solidFill>
                <a:latin typeface="Calibri"/>
              </a:rPr>
              <a:t>dialer · campaign
DNC lists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2907792" y="2331720"/>
            <a:ext cx="292608" cy="201168"/>
          </a:xfrm>
          <a:prstGeom prst="rightArrow">
            <a:avLst/>
          </a:prstGeom>
          <a:solidFill>
            <a:srgbClr val="5B6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2907792" y="3886200"/>
            <a:ext cx="292608" cy="201168"/>
          </a:xfrm>
          <a:prstGeom prst="rightArrow">
            <a:avLst/>
          </a:prstGeom>
          <a:solidFill>
            <a:srgbClr val="5B6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>
            <a:off x="6199632" y="3108960"/>
            <a:ext cx="292608" cy="201168"/>
          </a:xfrm>
          <a:prstGeom prst="rightArrow">
            <a:avLst/>
          </a:prstGeom>
          <a:solidFill>
            <a:srgbClr val="5B6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>
            <a:off x="9491472" y="2331720"/>
            <a:ext cx="292608" cy="201168"/>
          </a:xfrm>
          <a:prstGeom prst="rightArrow">
            <a:avLst/>
          </a:prstGeom>
          <a:solidFill>
            <a:srgbClr val="5B6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ight Arrow 26"/>
          <p:cNvSpPr/>
          <p:nvPr/>
        </p:nvSpPr>
        <p:spPr>
          <a:xfrm>
            <a:off x="9491472" y="3886200"/>
            <a:ext cx="292608" cy="201168"/>
          </a:xfrm>
          <a:prstGeom prst="rightArrow">
            <a:avLst/>
          </a:prstGeom>
          <a:solidFill>
            <a:srgbClr val="5B6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48640" y="4983480"/>
            <a:ext cx="11064240" cy="1234440"/>
          </a:xfrm>
          <a:prstGeom prst="roundRect">
            <a:avLst>
              <a:gd name="adj" fmla="val 6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5138928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indent="-137160" marL="137160">
              <a:spcAft>
                <a:spcPts val="600"/>
              </a:spcAft>
              <a:buChar char="•"/>
            </a:pPr>
            <a:r>
              <a:rPr sz="1300" b="1" i="0">
                <a:solidFill>
                  <a:srgbClr val="1A2420"/>
                </a:solidFill>
                <a:latin typeface="Calibri"/>
              </a:rPr>
              <a:t>Preference data lives in exactly one place — S/4 tables behind the RAP service. BTP holds no business state.</a:t>
            </a:r>
          </a:p>
          <a:p>
            <a:pPr algn="l" indent="-137160" marL="137160">
              <a:spcAft>
                <a:spcPts val="600"/>
              </a:spcAft>
              <a:buChar char="•"/>
            </a:pPr>
            <a:r>
              <a:rPr sz="1300" b="0" i="0">
                <a:solidFill>
                  <a:srgbClr val="1A2420"/>
                </a:solidFill>
                <a:latin typeface="Calibri"/>
              </a:rPr>
              <a:t>Two front-end options, one core: Service Cloud V2 mashup (recommended) or on-stack S/4 CRM WebClient — swapping never touches data or logic.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A2420"/>
                </a:solidFill>
                <a:latin typeface="Calibri"/>
              </a:rPr>
              <a:t>Development inventory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A64"/>
                </a:solidFill>
                <a:latin typeface="Calibri"/>
              </a:rPr>
              <a:t>Everything specified to build level — with working code where it already exists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1064240" cy="475488"/>
          </a:xfrm>
          <a:prstGeom prst="rect">
            <a:avLst/>
          </a:prstGeom>
          <a:solidFill>
            <a:srgbClr val="0A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7335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44368" y="1673352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Artifacts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36608" y="1673352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75688"/>
            <a:ext cx="11064240" cy="658368"/>
          </a:xfrm>
          <a:prstGeom prst="rect">
            <a:avLst/>
          </a:prstGeom>
          <a:solidFill>
            <a:srgbClr val="F4F7F5"/>
          </a:solidFill>
          <a:ln w="12700">
            <a:solidFill>
              <a:srgbClr val="E2E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157984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 i="0">
                <a:solidFill>
                  <a:srgbClr val="1A2420"/>
                </a:solidFill>
                <a:latin typeface="Calibri"/>
              </a:rPr>
              <a:t>Front 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44368" y="2157984"/>
            <a:ext cx="6217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1A2420"/>
                </a:solidFill>
                <a:latin typeface="Calibri"/>
              </a:rPr>
              <a:t>Embeddable CPC app (CSR + customer modes, 4 mock customers) · portal demo (23 screens)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36608" y="2157984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084A3E"/>
                </a:solidFill>
                <a:latin typeface="Calibri"/>
              </a:rPr>
              <a:t>Built &amp; live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734056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816352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 i="0">
                <a:solidFill>
                  <a:srgbClr val="1A2420"/>
                </a:solidFill>
                <a:latin typeface="Calibri"/>
              </a:rPr>
              <a:t>S/4 data &amp;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44368" y="2816352"/>
            <a:ext cx="6217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1A2420"/>
                </a:solidFill>
                <a:latin typeface="Calibri"/>
              </a:rPr>
              <a:t>ZCPC_PREF / AUDIT / PREFTYPE tables · CDS views · RAP OData V4 service with 5 actions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36608" y="2816352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084A3E"/>
                </a:solidFill>
                <a:latin typeface="Calibri"/>
              </a:rPr>
              <a:t>DDL delivered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392424"/>
            <a:ext cx="11064240" cy="658368"/>
          </a:xfrm>
          <a:prstGeom prst="rect">
            <a:avLst/>
          </a:prstGeom>
          <a:solidFill>
            <a:srgbClr val="F4F7F5"/>
          </a:solidFill>
          <a:ln w="12700">
            <a:solidFill>
              <a:srgbClr val="E2E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474720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 i="0">
                <a:solidFill>
                  <a:srgbClr val="1A2420"/>
                </a:solidFill>
                <a:latin typeface="Calibri"/>
              </a:rPr>
              <a:t>Rules (BRFplus)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44368" y="3474720"/>
            <a:ext cx="6217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1A2420"/>
                </a:solidFill>
                <a:latin typeface="Calibri"/>
              </a:rPr>
              <a:t>ZCPC application: validate, resolve-channel, event auto-processing · seed workbook (24 types, DNC policy, event rules)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36608" y="347472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084A3E"/>
                </a:solidFill>
                <a:latin typeface="Calibri"/>
              </a:rPr>
              <a:t>Design + content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05079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4133088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 i="0">
                <a:solidFill>
                  <a:srgbClr val="1A2420"/>
                </a:solidFill>
                <a:latin typeface="Calibri"/>
              </a:rPr>
              <a:t>Integration (CPI)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44368" y="4133088"/>
            <a:ext cx="6217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1A2420"/>
                </a:solidFill>
                <a:latin typeface="Calibri"/>
              </a:rPr>
              <a:t>8 iFlows specified · 3 built as importable projects (save, DNC broadcast, dispatch)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36608" y="4133088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084A3E"/>
                </a:solidFill>
                <a:latin typeface="Calibri"/>
              </a:rPr>
              <a:t>IF_CPC_02 imported OK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709160"/>
            <a:ext cx="11064240" cy="658368"/>
          </a:xfrm>
          <a:prstGeom prst="rect">
            <a:avLst/>
          </a:prstGeom>
          <a:solidFill>
            <a:srgbClr val="F4F7F5"/>
          </a:solidFill>
          <a:ln w="12700">
            <a:solidFill>
              <a:srgbClr val="E2E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4791456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 i="0">
                <a:solidFill>
                  <a:srgbClr val="1A2420"/>
                </a:solidFill>
                <a:latin typeface="Calibri"/>
              </a:rPr>
              <a:t>Enhancements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44368" y="4791456"/>
            <a:ext cx="6217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1A2420"/>
                </a:solidFill>
                <a:latin typeface="Calibri"/>
              </a:rPr>
              <a:t>Move-in/out, BP-change, final-bill event handlers · outbound dispatch trigger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36608" y="4791456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084A3E"/>
                </a:solidFill>
                <a:latin typeface="Calibri"/>
              </a:rPr>
              <a:t>Specified [validate]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36752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5449824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 i="0">
                <a:solidFill>
                  <a:srgbClr val="1A2420"/>
                </a:solidFill>
                <a:latin typeface="Calibri"/>
              </a:rPr>
              <a:t>Security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44368" y="5449824"/>
            <a:ext cx="6217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1A2420"/>
                </a:solidFill>
                <a:latin typeface="Calibri"/>
              </a:rPr>
              <a:t>IAS/XSUAA roles · identity guard (JWT overrides payload) · insert-only audit · correlation IDs end-to-end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36608" y="5449824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084A3E"/>
                </a:solidFill>
                <a:latin typeface="Calibri"/>
              </a:rPr>
              <a:t>Designed + in code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A2420"/>
                </a:solidFill>
                <a:latin typeface="Calibri"/>
              </a:rPr>
              <a:t>The write path: engineered for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A64"/>
                </a:solidFill>
                <a:latin typeface="Calibri"/>
              </a:rPr>
              <a:t>One save flow for portal and CSR — validated, attributed, audited, idempotent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3566160" cy="1371600"/>
          </a:xfrm>
          <a:prstGeom prst="roundRect">
            <a:avLst>
              <a:gd name="adj" fmla="val 6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9808" y="1947672"/>
            <a:ext cx="457200" cy="457200"/>
          </a:xfrm>
          <a:prstGeom prst="ellipse">
            <a:avLst/>
          </a:prstGeom>
          <a:solidFill>
            <a:srgbClr val="0A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7452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A2420"/>
                </a:solidFill>
                <a:latin typeface="Calibri"/>
              </a:rPr>
              <a:t>UI payload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258568"/>
            <a:ext cx="2606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5B6A64"/>
                </a:solidFill>
                <a:latin typeface="Calibri"/>
              </a:rPr>
              <a:t>request UUID per save attempt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691640"/>
            <a:ext cx="3566160" cy="1371600"/>
          </a:xfrm>
          <a:prstGeom prst="roundRect">
            <a:avLst>
              <a:gd name="adj" fmla="val 6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26280" y="1947672"/>
            <a:ext cx="457200" cy="457200"/>
          </a:xfrm>
          <a:prstGeom prst="ellipse">
            <a:avLst/>
          </a:prstGeom>
          <a:solidFill>
            <a:srgbClr val="0A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48072" y="187452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A2420"/>
                </a:solidFill>
                <a:latin typeface="Calibri"/>
              </a:rPr>
              <a:t>API gateway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8072" y="2258568"/>
            <a:ext cx="2606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5B6A64"/>
                </a:solidFill>
                <a:latin typeface="Calibri"/>
              </a:rPr>
              <a:t>OAuth validated, quota, correlation ID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1583" y="1691640"/>
            <a:ext cx="3566160" cy="1371600"/>
          </a:xfrm>
          <a:prstGeom prst="roundRect">
            <a:avLst>
              <a:gd name="adj" fmla="val 6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02751" y="1947672"/>
            <a:ext cx="457200" cy="457200"/>
          </a:xfrm>
          <a:prstGeom prst="ellipse">
            <a:avLst/>
          </a:prstGeom>
          <a:solidFill>
            <a:srgbClr val="0A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24543" y="187452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A2420"/>
                </a:solidFill>
                <a:latin typeface="Calibri"/>
              </a:rPr>
              <a:t>Identity guard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24543" y="2258568"/>
            <a:ext cx="2606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5B6A64"/>
                </a:solidFill>
                <a:latin typeface="Calibri"/>
              </a:rPr>
              <a:t>user &amp; role from the token — never the payload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291840"/>
            <a:ext cx="3566160" cy="1371600"/>
          </a:xfrm>
          <a:prstGeom prst="roundRect">
            <a:avLst>
              <a:gd name="adj" fmla="val 6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49808" y="3547872"/>
            <a:ext cx="457200" cy="457200"/>
          </a:xfrm>
          <a:prstGeom prst="ellipse">
            <a:avLst/>
          </a:prstGeom>
          <a:solidFill>
            <a:srgbClr val="0A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47472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A2420"/>
                </a:solidFill>
                <a:latin typeface="Calibri"/>
              </a:rPr>
              <a:t>BRFplus validation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858768"/>
            <a:ext cx="2606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5B6A64"/>
                </a:solidFill>
                <a:latin typeface="Calibri"/>
              </a:rPr>
              <a:t>mandatory types, channels, scope rules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5112" y="3291840"/>
            <a:ext cx="3566160" cy="1371600"/>
          </a:xfrm>
          <a:prstGeom prst="roundRect">
            <a:avLst>
              <a:gd name="adj" fmla="val 6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526280" y="3547872"/>
            <a:ext cx="457200" cy="457200"/>
          </a:xfrm>
          <a:prstGeom prst="ellipse">
            <a:avLst/>
          </a:prstGeom>
          <a:solidFill>
            <a:srgbClr val="0A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48072" y="347472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A2420"/>
                </a:solidFill>
                <a:latin typeface="Calibri"/>
              </a:rPr>
              <a:t>One unit of work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48072" y="3858768"/>
            <a:ext cx="2606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5B6A64"/>
                </a:solidFill>
                <a:latin typeface="Calibri"/>
              </a:rPr>
              <a:t>end-date + insert + audit — all or nothing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01583" y="3291840"/>
            <a:ext cx="3566160" cy="1371600"/>
          </a:xfrm>
          <a:prstGeom prst="roundRect">
            <a:avLst>
              <a:gd name="adj" fmla="val 6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02751" y="3547872"/>
            <a:ext cx="457200" cy="457200"/>
          </a:xfrm>
          <a:prstGeom prst="ellipse">
            <a:avLst/>
          </a:prstGeom>
          <a:solidFill>
            <a:srgbClr val="0A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24543" y="347472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A2420"/>
                </a:solidFill>
                <a:latin typeface="Calibri"/>
              </a:rPr>
              <a:t>Events out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24543" y="3858768"/>
            <a:ext cx="2606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5B6A64"/>
                </a:solidFill>
                <a:latin typeface="Calibri"/>
              </a:rPr>
              <a:t>PreferenceChanged · DncChanged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074920"/>
            <a:ext cx="11064240" cy="1188720"/>
          </a:xfrm>
          <a:prstGeom prst="roundRect">
            <a:avLst>
              <a:gd name="adj" fmla="val 6000"/>
            </a:avLst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230368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indent="-137160" marL="137160">
              <a:spcAft>
                <a:spcPts val="600"/>
              </a:spcAft>
              <a:buChar char="•"/>
            </a:pPr>
            <a:r>
              <a:rPr sz="1350" b="0" i="0">
                <a:solidFill>
                  <a:srgbClr val="1A2420"/>
                </a:solidFill>
                <a:latin typeface="Calibri"/>
              </a:rPr>
              <a:t>Records are end-dated, never deleted — history is regulator-ready by construction</a:t>
            </a:r>
          </a:p>
          <a:p>
            <a:pPr algn="l" indent="-137160" marL="137160">
              <a:spcAft>
                <a:spcPts val="600"/>
              </a:spcAft>
              <a:buChar char="•"/>
            </a:pPr>
            <a:r>
              <a:rPr sz="1350" b="0" i="0">
                <a:solidFill>
                  <a:srgbClr val="1A2420"/>
                </a:solidFill>
                <a:latin typeface="Calibri"/>
              </a:rPr>
              <a:t>A client cannot spoof identity, save a foreign account, or half-apply a change — enforced server-side, proven by test cases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A2420"/>
                </a:solidFill>
                <a:latin typeface="Calibri"/>
              </a:rPr>
              <a:t>Compliance is a feature, not an afterthought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A64"/>
                </a:solidFill>
                <a:latin typeface="Calibri"/>
              </a:rPr>
              <a:t>Do-Not-Call engineered end to end — the part regulators actually ask about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94960" cy="1280160"/>
          </a:xfrm>
          <a:prstGeom prst="roundRect">
            <a:avLst>
              <a:gd name="adj" fmla="val 6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9808" y="1865376"/>
            <a:ext cx="402336" cy="402336"/>
          </a:xfrm>
          <a:prstGeom prst="ellipse">
            <a:avLst/>
          </a:prstGeom>
          <a:solidFill>
            <a:srgbClr val="0A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1783080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1A2420"/>
                </a:solidFill>
                <a:latin typeface="Calibri"/>
              </a:rPr>
              <a:t>BP-level DNC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148840"/>
            <a:ext cx="4434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B6A64"/>
                </a:solidFill>
                <a:latin typeface="Calibri"/>
              </a:rPr>
              <a:t>One record per customer governs every contract account; never reset by move-in/move-out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394960" cy="1280160"/>
          </a:xfrm>
          <a:prstGeom prst="roundRect">
            <a:avLst>
              <a:gd name="adj" fmla="val 6000"/>
            </a:avLst>
          </a:prstGeom>
          <a:solidFill>
            <a:srgbClr val="F8E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19088" y="1865376"/>
            <a:ext cx="402336" cy="402336"/>
          </a:xfrm>
          <a:prstGeom prst="ellipse">
            <a:avLst/>
          </a:prstGeom>
          <a:solidFill>
            <a:srgbClr val="B879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95160" y="1783080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1A2420"/>
                </a:solidFill>
                <a:latin typeface="Calibri"/>
              </a:rPr>
              <a:t>Send-time decisions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60" y="2148840"/>
            <a:ext cx="4434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B6A64"/>
                </a:solidFill>
                <a:latin typeface="Calibri"/>
              </a:rPr>
              <a:t>Every outbound message asks BRFplus at the moment of sending — a DNC set seconds ago suppresses the next call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127248"/>
            <a:ext cx="5394960" cy="1280160"/>
          </a:xfrm>
          <a:prstGeom prst="roundRect">
            <a:avLst>
              <a:gd name="adj" fmla="val 6000"/>
            </a:avLst>
          </a:prstGeom>
          <a:solidFill>
            <a:srgbClr val="F8E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49808" y="3346704"/>
            <a:ext cx="402336" cy="402336"/>
          </a:xfrm>
          <a:prstGeom prst="ellipse">
            <a:avLst/>
          </a:prstGeom>
          <a:solidFill>
            <a:srgbClr val="B879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264408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1A2420"/>
                </a:solidFill>
                <a:latin typeface="Calibri"/>
              </a:rPr>
              <a:t>Broadcast with 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3630168"/>
            <a:ext cx="4434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B6A64"/>
                </a:solidFill>
                <a:latin typeface="Calibri"/>
              </a:rPr>
              <a:t>DNC changes distributed to dialer, campaign and print with per-target receipts written to the audit — SLA-provable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127248"/>
            <a:ext cx="5394960" cy="1280160"/>
          </a:xfrm>
          <a:prstGeom prst="roundRect">
            <a:avLst>
              <a:gd name="adj" fmla="val 6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19088" y="3346704"/>
            <a:ext cx="402336" cy="402336"/>
          </a:xfrm>
          <a:prstGeom prst="ellipse">
            <a:avLst/>
          </a:prstGeom>
          <a:solidFill>
            <a:srgbClr val="0A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95160" y="3264408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1A2420"/>
                </a:solidFill>
                <a:latin typeface="Calibri"/>
              </a:rPr>
              <a:t>Sequence guard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60" y="3630168"/>
            <a:ext cx="4434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B6A64"/>
                </a:solidFill>
                <a:latin typeface="Calibri"/>
              </a:rPr>
              <a:t>Per-customer ordering means ADD/REMOVE can never invert at a target system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608576"/>
            <a:ext cx="5394960" cy="1280160"/>
          </a:xfrm>
          <a:prstGeom prst="roundRect">
            <a:avLst>
              <a:gd name="adj" fmla="val 6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49808" y="4828032"/>
            <a:ext cx="402336" cy="402336"/>
          </a:xfrm>
          <a:prstGeom prst="ellipse">
            <a:avLst/>
          </a:prstGeom>
          <a:solidFill>
            <a:srgbClr val="0A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25880" y="4745736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1A2420"/>
                </a:solidFill>
                <a:latin typeface="Calibri"/>
              </a:rPr>
              <a:t>Daily reconciliation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5111496"/>
            <a:ext cx="4434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B6A64"/>
                </a:solidFill>
                <a:latin typeface="Calibri"/>
              </a:rPr>
              <a:t>S/4 snapshot vs each target's live list — drift auto-repaired and reported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4608576"/>
            <a:ext cx="5394960" cy="1280160"/>
          </a:xfrm>
          <a:prstGeom prst="roundRect">
            <a:avLst>
              <a:gd name="adj" fmla="val 6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19088" y="4828032"/>
            <a:ext cx="402336" cy="402336"/>
          </a:xfrm>
          <a:prstGeom prst="ellipse">
            <a:avLst/>
          </a:prstGeom>
          <a:solidFill>
            <a:srgbClr val="0A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95160" y="4745736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1A2420"/>
                </a:solidFill>
                <a:latin typeface="Calibri"/>
              </a:rPr>
              <a:t>Suppressions audited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95160" y="5111496"/>
            <a:ext cx="4434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B6A64"/>
                </a:solidFill>
                <a:latin typeface="Calibri"/>
              </a:rPr>
              <a:t>Every not-sent message logged with its reason — proof the preference was honored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A2420"/>
                </a:solidFill>
                <a:latin typeface="Calibri"/>
              </a:rPr>
              <a:t>Why SAP BTP for this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A64"/>
                </a:solidFill>
                <a:latin typeface="Calibri"/>
              </a:rPr>
              <a:t>The decisive advantages when your core is SAP S/4HANA Utilities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394960" cy="1353312"/>
          </a:xfrm>
          <a:prstGeom prst="roundRect">
            <a:avLst>
              <a:gd name="adj" fmla="val 6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9808" y="1819656"/>
            <a:ext cx="457200" cy="457200"/>
          </a:xfrm>
          <a:prstGeom prst="ellipse">
            <a:avLst/>
          </a:prstGeom>
          <a:solidFill>
            <a:srgbClr val="0A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719072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1A2420"/>
                </a:solidFill>
                <a:latin typeface="Calibri"/>
              </a:rPr>
              <a:t>S/4 integration is native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075688"/>
            <a:ext cx="4434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80" b="0" i="0">
                <a:solidFill>
                  <a:srgbClr val="5B6A64"/>
                </a:solidFill>
                <a:latin typeface="Calibri"/>
              </a:rPr>
              <a:t>Destinations, Cloud Connector, principal propagation, event enablement — the real user reaches S/4 securely with configuration, not months of custom plumbing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00200"/>
            <a:ext cx="5394960" cy="1353312"/>
          </a:xfrm>
          <a:prstGeom prst="roundRect">
            <a:avLst>
              <a:gd name="adj" fmla="val 6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19088" y="1819656"/>
            <a:ext cx="457200" cy="457200"/>
          </a:xfrm>
          <a:prstGeom prst="ellipse">
            <a:avLst/>
          </a:prstGeom>
          <a:solidFill>
            <a:srgbClr val="0A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1719072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1A2420"/>
                </a:solidFill>
                <a:latin typeface="Calibri"/>
              </a:rPr>
              <a:t>Managed services, not projects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2075688"/>
            <a:ext cx="4434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80" b="0" i="0">
                <a:solidFill>
                  <a:srgbClr val="5B6A64"/>
                </a:solidFill>
                <a:latin typeface="Calibri"/>
              </a:rPr>
              <a:t>Identity (IAS), API management, integration runtime, event broker, monitoring — subscribed and SLA-backed, not built and patched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136391"/>
            <a:ext cx="5394960" cy="1353312"/>
          </a:xfrm>
          <a:prstGeom prst="roundRect">
            <a:avLst>
              <a:gd name="adj" fmla="val 6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49808" y="3355847"/>
            <a:ext cx="457200" cy="457200"/>
          </a:xfrm>
          <a:prstGeom prst="ellipse">
            <a:avLst/>
          </a:prstGeom>
          <a:solidFill>
            <a:srgbClr val="0A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255263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1A2420"/>
                </a:solidFill>
                <a:latin typeface="Calibri"/>
              </a:rPr>
              <a:t>Clean-core alignment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611879"/>
            <a:ext cx="4434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80" b="0" i="0">
                <a:solidFill>
                  <a:srgbClr val="5B6A64"/>
                </a:solidFill>
                <a:latin typeface="Calibri"/>
              </a:rPr>
              <a:t>RAP, CDS and BRFplus are SAP's sanctioned extension model — upgrades of S/4 don't strand the solution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136391"/>
            <a:ext cx="5394960" cy="1353312"/>
          </a:xfrm>
          <a:prstGeom prst="roundRect">
            <a:avLst>
              <a:gd name="adj" fmla="val 6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19088" y="3355847"/>
            <a:ext cx="457200" cy="457200"/>
          </a:xfrm>
          <a:prstGeom prst="ellipse">
            <a:avLst/>
          </a:prstGeom>
          <a:solidFill>
            <a:srgbClr val="0A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3255263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1A2420"/>
                </a:solidFill>
                <a:latin typeface="Calibri"/>
              </a:rPr>
              <a:t>Compliance posture inherited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3611879"/>
            <a:ext cx="4434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80" b="0" i="0">
                <a:solidFill>
                  <a:srgbClr val="5B6A64"/>
                </a:solidFill>
                <a:latin typeface="Calibri"/>
              </a:rPr>
              <a:t>SAP's certifications, audit logging services, data-center compliance — inherited rather than re-certified per component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672583"/>
            <a:ext cx="5394960" cy="1353312"/>
          </a:xfrm>
          <a:prstGeom prst="roundRect">
            <a:avLst>
              <a:gd name="adj" fmla="val 6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49808" y="4892039"/>
            <a:ext cx="457200" cy="457200"/>
          </a:xfrm>
          <a:prstGeom prst="ellipse">
            <a:avLst/>
          </a:prstGeom>
          <a:solidFill>
            <a:srgbClr val="0A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791455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1A2420"/>
                </a:solidFill>
                <a:latin typeface="Calibri"/>
              </a:rPr>
              <a:t>One skill set, one vendor 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148071"/>
            <a:ext cx="4434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80" b="0" i="0">
                <a:solidFill>
                  <a:srgbClr val="5B6A64"/>
                </a:solidFill>
                <a:latin typeface="Calibri"/>
              </a:rPr>
              <a:t>ABAP/CDS + CPI + BTP skills your SAP team already grows; one support chain when something crosses the boundary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4672583"/>
            <a:ext cx="5394960" cy="1353312"/>
          </a:xfrm>
          <a:prstGeom prst="roundRect">
            <a:avLst>
              <a:gd name="adj" fmla="val 6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19088" y="4892039"/>
            <a:ext cx="457200" cy="457200"/>
          </a:xfrm>
          <a:prstGeom prst="ellipse">
            <a:avLst/>
          </a:prstGeom>
          <a:solidFill>
            <a:srgbClr val="0A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4791455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1A2420"/>
                </a:solidFill>
                <a:latin typeface="Calibri"/>
              </a:rPr>
              <a:t>Speed, demonstrated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5148071"/>
            <a:ext cx="4434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80" b="0" i="0">
                <a:solidFill>
                  <a:srgbClr val="5B6A64"/>
                </a:solidFill>
                <a:latin typeface="Calibri"/>
              </a:rPr>
              <a:t>The mashup, iFlows and rules content in this deck were produced against BTP patterns — IF_CPC_02 imported into CPI first try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A2420"/>
                </a:solidFill>
                <a:latin typeface="Calibri"/>
              </a:rPr>
              <a:t>SAP BTP vs custom build (.NET / Java / Node)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A64"/>
                </a:solidFill>
                <a:latin typeface="Calibri"/>
              </a:rPr>
              <a:t>A fair comparison — judged for an SAP S/4HANA Utilities landscape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11064240" cy="411480"/>
          </a:xfrm>
          <a:prstGeom prst="rect">
            <a:avLst/>
          </a:prstGeom>
          <a:solidFill>
            <a:srgbClr val="0A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18488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Dimension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67328" y="1618488"/>
            <a:ext cx="3977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SAP BTP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9288" y="1618488"/>
            <a:ext cx="3520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Custom platform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65960"/>
            <a:ext cx="11064240" cy="512064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016252"/>
            <a:ext cx="28346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80" b="1" i="0">
                <a:solidFill>
                  <a:srgbClr val="1A2420"/>
                </a:solidFill>
                <a:latin typeface="Calibri"/>
              </a:rPr>
              <a:t>S/4 connectivity &amp; auth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67328" y="2016252"/>
            <a:ext cx="39776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19" b="0" i="0">
                <a:solidFill>
                  <a:srgbClr val="084A3E"/>
                </a:solidFill>
                <a:latin typeface="Calibri"/>
              </a:rPr>
              <a:t>Destination service, principal propagation, Cloud Connector — configure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19288" y="2016252"/>
            <a:ext cx="35204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19" b="0" i="0">
                <a:solidFill>
                  <a:srgbClr val="5B6A64"/>
                </a:solidFill>
                <a:latin typeface="Calibri"/>
              </a:rPr>
              <a:t>Hand-build OAuth flows, token exchange, network path, cert rotation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478024"/>
            <a:ext cx="1106424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528316"/>
            <a:ext cx="28346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80" b="1" i="0">
                <a:solidFill>
                  <a:srgbClr val="1A2420"/>
                </a:solidFill>
                <a:latin typeface="Calibri"/>
              </a:rPr>
              <a:t>Business user identity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67328" y="2528316"/>
            <a:ext cx="39776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19" b="0" i="0">
                <a:solidFill>
                  <a:srgbClr val="084A3E"/>
                </a:solidFill>
                <a:latin typeface="Calibri"/>
              </a:rPr>
              <a:t>IAS + XSUAA, role collections, SSO to SAP apps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9288" y="2528316"/>
            <a:ext cx="35204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19" b="0" i="0">
                <a:solidFill>
                  <a:srgbClr val="5B6A64"/>
                </a:solidFill>
                <a:latin typeface="Calibri"/>
              </a:rPr>
              <a:t>IdP integration + custom role model + per-app SSO work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990088"/>
            <a:ext cx="11064240" cy="512064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040380"/>
            <a:ext cx="28346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80" b="1" i="0">
                <a:solidFill>
                  <a:srgbClr val="1A2420"/>
                </a:solidFill>
                <a:latin typeface="Calibri"/>
              </a:rPr>
              <a:t>Integration &amp; events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67328" y="3040380"/>
            <a:ext cx="39776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19" b="0" i="0">
                <a:solidFill>
                  <a:srgbClr val="084A3E"/>
                </a:solidFill>
                <a:latin typeface="Calibri"/>
              </a:rPr>
              <a:t>CPI runtime, connectors, Event Mesh with retry/DLQ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9288" y="3040380"/>
            <a:ext cx="35204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19" b="0" i="0">
                <a:solidFill>
                  <a:srgbClr val="5B6A64"/>
                </a:solidFill>
                <a:latin typeface="Calibri"/>
              </a:rPr>
              <a:t>Build/host ESB or queues; write retry, DLQ, monitoring yourself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502152"/>
            <a:ext cx="1106424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552444"/>
            <a:ext cx="28346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80" b="1" i="0">
                <a:solidFill>
                  <a:srgbClr val="1A2420"/>
                </a:solidFill>
                <a:latin typeface="Calibri"/>
              </a:rPr>
              <a:t>Rules the business can own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67328" y="3552444"/>
            <a:ext cx="39776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19" b="0" i="0">
                <a:solidFill>
                  <a:srgbClr val="084A3E"/>
                </a:solidFill>
                <a:latin typeface="Calibri"/>
              </a:rPr>
              <a:t>BRFplus workbench — admins maintain decision tables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19288" y="3552444"/>
            <a:ext cx="35204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19" b="0" i="0">
                <a:solidFill>
                  <a:srgbClr val="5B6A64"/>
                </a:solidFill>
                <a:latin typeface="Calibri"/>
              </a:rPr>
              <a:t>Rules engine license or custom admin UI to build &amp; maintain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014216"/>
            <a:ext cx="11064240" cy="512064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4064508"/>
            <a:ext cx="28346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80" b="1" i="0">
                <a:solidFill>
                  <a:srgbClr val="1A2420"/>
                </a:solidFill>
                <a:latin typeface="Calibri"/>
              </a:rPr>
              <a:t>Upgrade coupling to S/4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67328" y="4064508"/>
            <a:ext cx="39776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19" b="0" i="0">
                <a:solidFill>
                  <a:srgbClr val="084A3E"/>
                </a:solidFill>
                <a:latin typeface="Calibri"/>
              </a:rPr>
              <a:t>Clean-core APIs; SAP maintains the contract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19288" y="4064508"/>
            <a:ext cx="35204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19" b="0" i="0">
                <a:solidFill>
                  <a:srgbClr val="5B6A64"/>
                </a:solidFill>
                <a:latin typeface="Calibri"/>
              </a:rPr>
              <a:t>Every S/4 upgrade re-tests custom interface assumptions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526280"/>
            <a:ext cx="1106424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4576572"/>
            <a:ext cx="28346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80" b="1" i="0">
                <a:solidFill>
                  <a:srgbClr val="1A2420"/>
                </a:solidFill>
                <a:latin typeface="Calibri"/>
              </a:rPr>
              <a:t>Ops &amp; monitoring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67328" y="4576572"/>
            <a:ext cx="39776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19" b="0" i="0">
                <a:solidFill>
                  <a:srgbClr val="084A3E"/>
                </a:solidFill>
                <a:latin typeface="Calibri"/>
              </a:rPr>
              <a:t>Cloud ALM, message monitoring, alerting included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19288" y="4576572"/>
            <a:ext cx="35204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19" b="0" i="0">
                <a:solidFill>
                  <a:srgbClr val="5B6A64"/>
                </a:solidFill>
                <a:latin typeface="Calibri"/>
              </a:rPr>
              <a:t>Assemble APM, log stack, alerting; own the pager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038344"/>
            <a:ext cx="11064240" cy="512064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5088636"/>
            <a:ext cx="28346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80" b="1" i="0">
                <a:solidFill>
                  <a:srgbClr val="1A2420"/>
                </a:solidFill>
                <a:latin typeface="Calibri"/>
              </a:rPr>
              <a:t>License / run cost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67328" y="5088636"/>
            <a:ext cx="39776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19" b="0" i="0">
                <a:solidFill>
                  <a:srgbClr val="084A3E"/>
                </a:solidFill>
                <a:latin typeface="Calibri"/>
              </a:rPr>
              <a:t>BTP subscription (CPI, Event Mesh, runtime)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9288" y="5088636"/>
            <a:ext cx="35204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19" b="0" i="0">
                <a:solidFill>
                  <a:srgbClr val="5B6A64"/>
                </a:solidFill>
                <a:latin typeface="Calibri"/>
              </a:rPr>
              <a:t>Lower license; higher build + maintain engineering cost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5550408"/>
            <a:ext cx="1106424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5600700"/>
            <a:ext cx="28346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80" b="1" i="0">
                <a:solidFill>
                  <a:srgbClr val="1A2420"/>
                </a:solidFill>
                <a:latin typeface="Calibri"/>
              </a:rPr>
              <a:t>Team flexibility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67328" y="5600700"/>
            <a:ext cx="39776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19" b="0" i="0">
                <a:solidFill>
                  <a:srgbClr val="084A3E"/>
                </a:solidFill>
                <a:latin typeface="Calibri"/>
              </a:rPr>
              <a:t>SAP skill set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19288" y="5600700"/>
            <a:ext cx="35204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19" b="0" i="0">
                <a:solidFill>
                  <a:srgbClr val="5B6A64"/>
                </a:solidFill>
                <a:latin typeface="Calibri"/>
              </a:rPr>
              <a:t>Any stack, broader hiring pool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5B6A64"/>
                </a:solidFill>
                <a:latin typeface="Calibri"/>
              </a:rPr>
              <a:t>Last two rows favor custom — an honest trade. The verdict turns on where your system of record lives.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What the custom route really costs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CAE4DC"/>
                </a:solidFill>
                <a:latin typeface="Calibri"/>
              </a:rPr>
              <a:t>The invisible backlog a .NET/Java build must deliver before the first preference is ever saved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349240" cy="960120"/>
          </a:xfrm>
          <a:prstGeom prst="roundRect">
            <a:avLst>
              <a:gd name="adj" fmla="val 6000"/>
            </a:avLst>
          </a:prstGeom>
          <a:solidFill>
            <a:srgbClr val="1B2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0136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CAE4DC"/>
                </a:solidFill>
                <a:latin typeface="Calibri"/>
              </a:rPr>
              <a:t>Secure S/4 connectivity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4884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9FB6AD"/>
                </a:solidFill>
                <a:latin typeface="Calibri"/>
              </a:rPr>
              <a:t>network path, token exchange, principal propagation, cert lifecycle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07208"/>
            <a:ext cx="5349240" cy="960120"/>
          </a:xfrm>
          <a:prstGeom prst="roundRect">
            <a:avLst>
              <a:gd name="adj" fmla="val 6000"/>
            </a:avLst>
          </a:prstGeom>
          <a:solidFill>
            <a:srgbClr val="1B2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91693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CAE4DC"/>
                </a:solidFill>
                <a:latin typeface="Calibri"/>
              </a:rPr>
              <a:t>Identity &amp; roles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64408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9FB6AD"/>
                </a:solidFill>
                <a:latin typeface="Calibri"/>
              </a:rPr>
              <a:t>customer + agent IdP federation, role model, session handling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22776"/>
            <a:ext cx="5349240" cy="960120"/>
          </a:xfrm>
          <a:prstGeom prst="roundRect">
            <a:avLst>
              <a:gd name="adj" fmla="val 6000"/>
            </a:avLst>
          </a:prstGeom>
          <a:solidFill>
            <a:srgbClr val="1B2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032504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CAE4DC"/>
                </a:solidFill>
                <a:latin typeface="Calibri"/>
              </a:rPr>
              <a:t>Integration runtime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79976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9FB6AD"/>
                </a:solidFill>
                <a:latin typeface="Calibri"/>
              </a:rPr>
              <a:t>retries, DLQs, idempotency, replay tooling, message monitoring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038344"/>
            <a:ext cx="5349240" cy="960120"/>
          </a:xfrm>
          <a:prstGeom prst="roundRect">
            <a:avLst>
              <a:gd name="adj" fmla="val 6000"/>
            </a:avLst>
          </a:prstGeom>
          <a:solidFill>
            <a:srgbClr val="1B2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148072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CAE4DC"/>
                </a:solidFill>
                <a:latin typeface="Calibri"/>
              </a:rPr>
              <a:t>Rules maintenance UI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495544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9FB6AD"/>
                </a:solidFill>
                <a:latin typeface="Calibri"/>
              </a:rPr>
              <a:t>so business admins can change eligibility &amp; DNC policy without releases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691640"/>
            <a:ext cx="5349240" cy="960120"/>
          </a:xfrm>
          <a:prstGeom prst="roundRect">
            <a:avLst>
              <a:gd name="adj" fmla="val 6000"/>
            </a:avLst>
          </a:prstGeom>
          <a:solidFill>
            <a:srgbClr val="1B2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80136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CAE4DC"/>
                </a:solidFill>
                <a:latin typeface="Calibri"/>
              </a:rPr>
              <a:t>Audit &amp; compliance store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14884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9FB6AD"/>
                </a:solidFill>
                <a:latin typeface="Calibri"/>
              </a:rPr>
              <a:t>immutable history, retention, DSR support, evidence reporting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807208"/>
            <a:ext cx="5349240" cy="960120"/>
          </a:xfrm>
          <a:prstGeom prst="roundRect">
            <a:avLst>
              <a:gd name="adj" fmla="val 6000"/>
            </a:avLst>
          </a:prstGeom>
          <a:solidFill>
            <a:srgbClr val="1B2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91693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CAE4DC"/>
                </a:solidFill>
                <a:latin typeface="Calibri"/>
              </a:rPr>
              <a:t>Event handling from S/4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264408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9FB6AD"/>
                </a:solidFill>
                <a:latin typeface="Calibri"/>
              </a:rPr>
              <a:t>move-in/out, BP change — polling or custom event bridges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3922776"/>
            <a:ext cx="5349240" cy="960120"/>
          </a:xfrm>
          <a:prstGeom prst="roundRect">
            <a:avLst>
              <a:gd name="adj" fmla="val 6000"/>
            </a:avLst>
          </a:prstGeom>
          <a:solidFill>
            <a:srgbClr val="1B2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4032504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CAE4DC"/>
                </a:solidFill>
                <a:latin typeface="Calibri"/>
              </a:rPr>
              <a:t>Ops stack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379976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9FB6AD"/>
                </a:solidFill>
                <a:latin typeface="Calibri"/>
              </a:rPr>
              <a:t>APM, logs, alerting, on-call runbooks for every custom component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5038344"/>
            <a:ext cx="5349240" cy="960120"/>
          </a:xfrm>
          <a:prstGeom prst="roundRect">
            <a:avLst>
              <a:gd name="adj" fmla="val 6000"/>
            </a:avLst>
          </a:prstGeom>
          <a:solidFill>
            <a:srgbClr val="1B2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5148072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CAE4DC"/>
                </a:solidFill>
                <a:latin typeface="Calibri"/>
              </a:rPr>
              <a:t>Perpetual re-testing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5495544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9FB6AD"/>
                </a:solidFill>
                <a:latin typeface="Calibri"/>
              </a:rPr>
              <a:t>every S/4 upgrade or patch revisits every hand-built interface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21792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AE4DC"/>
                </a:solidFill>
                <a:latin typeface="Calibri"/>
              </a:rPr>
              <a:t>On BTP, every item above is a subscribed service or a sanctioned extension pattern — the project budget goes into the solution, not the plumbing.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A2420"/>
                </a:solidFill>
                <a:latin typeface="Calibri"/>
              </a:rPr>
              <a:t>When would custom still be right?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A64"/>
                </a:solidFill>
                <a:latin typeface="Calibri"/>
              </a:rPr>
              <a:t>Credibility check — we recommend BTP because of your landscape, not by default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94960" cy="4023360"/>
          </a:xfrm>
          <a:prstGeom prst="roundRect">
            <a:avLst>
              <a:gd name="adj" fmla="val 6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A2420"/>
                </a:solidFill>
                <a:latin typeface="Calibri"/>
              </a:rPr>
              <a:t>Custom (.NET/Java) makes sense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475488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indent="-137160" marL="137160">
              <a:spcAft>
                <a:spcPts val="1000"/>
              </a:spcAft>
              <a:buChar char="•"/>
            </a:pPr>
            <a:r>
              <a:rPr sz="1250" b="0" i="0">
                <a:solidFill>
                  <a:srgbClr val="1A2420"/>
                </a:solidFill>
                <a:latin typeface="Calibri"/>
              </a:rPr>
              <a:t>The core systems are not SAP — no S/4, no SAP identity landscape</a:t>
            </a:r>
          </a:p>
          <a:p>
            <a:pPr algn="l" indent="-137160" marL="137160">
              <a:spcAft>
                <a:spcPts val="1000"/>
              </a:spcAft>
              <a:buChar char="•"/>
            </a:pPr>
            <a:r>
              <a:rPr sz="1250" b="0" i="0">
                <a:solidFill>
                  <a:srgbClr val="1A2420"/>
                </a:solidFill>
                <a:latin typeface="Calibri"/>
              </a:rPr>
              <a:t>A strong in-house .NET/Java platform team already runs a mature cloud estate</a:t>
            </a:r>
          </a:p>
          <a:p>
            <a:pPr algn="l" indent="-137160" marL="137160">
              <a:spcAft>
                <a:spcPts val="1000"/>
              </a:spcAft>
              <a:buChar char="•"/>
            </a:pPr>
            <a:r>
              <a:rPr sz="1250" b="0" i="0">
                <a:solidFill>
                  <a:srgbClr val="1A2420"/>
                </a:solidFill>
                <a:latin typeface="Calibri"/>
              </a:rPr>
              <a:t>Subscription cost dominates and engineering time is treated as free</a:t>
            </a:r>
          </a:p>
          <a:p>
            <a:pPr algn="l" indent="-137160" marL="137160">
              <a:spcAft>
                <a:spcPts val="1000"/>
              </a:spcAft>
              <a:buChar char="•"/>
            </a:pPr>
            <a:r>
              <a:rPr sz="1250" b="0" i="0">
                <a:solidFill>
                  <a:srgbClr val="1A2420"/>
                </a:solidFill>
                <a:latin typeface="Calibri"/>
              </a:rPr>
              <a:t>The portal is a stand-alone product, not an extension of the SAP core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45920"/>
            <a:ext cx="5394960" cy="4023360"/>
          </a:xfrm>
          <a:prstGeom prst="roundRect">
            <a:avLst>
              <a:gd name="adj" fmla="val 6000"/>
            </a:avLst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8288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84A3E"/>
                </a:solidFill>
                <a:latin typeface="Calibri"/>
              </a:rPr>
              <a:t>Your situation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286000"/>
            <a:ext cx="475488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indent="-137160" marL="137160">
              <a:spcAft>
                <a:spcPts val="1000"/>
              </a:spcAft>
              <a:buChar char="•"/>
            </a:pPr>
            <a:r>
              <a:rPr sz="1250" b="0" i="0">
                <a:solidFill>
                  <a:srgbClr val="1A2420"/>
                </a:solidFill>
                <a:latin typeface="Calibri"/>
              </a:rPr>
              <a:t>System of record is SAP S/4HANA Utilities — BP, contract accounts, tariffs, billing</a:t>
            </a:r>
          </a:p>
          <a:p>
            <a:pPr algn="l" indent="-137160" marL="137160">
              <a:spcAft>
                <a:spcPts val="1000"/>
              </a:spcAft>
              <a:buChar char="•"/>
            </a:pPr>
            <a:r>
              <a:rPr sz="1250" b="0" i="0">
                <a:solidFill>
                  <a:srgbClr val="1A2420"/>
                </a:solidFill>
                <a:latin typeface="Calibri"/>
              </a:rPr>
              <a:t>Agent desktop is SAP Service Cloud V2 — the mashup is already configured and tested</a:t>
            </a:r>
          </a:p>
          <a:p>
            <a:pPr algn="l" indent="-137160" marL="137160">
              <a:spcAft>
                <a:spcPts val="1000"/>
              </a:spcAft>
              <a:buChar char="•"/>
            </a:pPr>
            <a:r>
              <a:rPr sz="1250" b="0" i="0">
                <a:solidFill>
                  <a:srgbClr val="1A2420"/>
                </a:solidFill>
                <a:latin typeface="Calibri"/>
              </a:rPr>
              <a:t>Rules belong to business admins — BRFplus gives them the workbench</a:t>
            </a:r>
          </a:p>
          <a:p>
            <a:pPr algn="l" indent="-137160" marL="137160">
              <a:spcAft>
                <a:spcPts val="1000"/>
              </a:spcAft>
              <a:buChar char="•"/>
            </a:pPr>
            <a:r>
              <a:rPr sz="1250" b="0" i="0">
                <a:solidFill>
                  <a:srgbClr val="1A2420"/>
                </a:solidFill>
                <a:latin typeface="Calibri"/>
              </a:rPr>
              <a:t>Compliance (DNC, consent, audit) must be provable across SAP and non-SAP systems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89788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84A3E"/>
                </a:solidFill>
                <a:latin typeface="Calibri"/>
              </a:rPr>
              <a:t>Conclusion: for an S/4HANA Utilities core with Service Cloud V2 agents, BTP is the lower-risk, lower-total-cost path.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A2420"/>
                </a:solidFill>
                <a:latin typeface="Calibri"/>
              </a:rPr>
              <a:t>AI roadmap: intelligence on top, determinism underneath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A64"/>
                </a:solidFill>
                <a:latin typeface="Calibri"/>
              </a:rPr>
              <a:t>The audited history and the rules core make AI safe here — the LLM proposes and explains; BRFplus decides; the core writes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611880" cy="3063240"/>
          </a:xfrm>
          <a:prstGeom prst="roundRect">
            <a:avLst>
              <a:gd name="adj" fmla="val 6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6B4FBB"/>
                </a:solidFill>
                <a:latin typeface="Calibri"/>
              </a:rPr>
              <a:t>Wave 1 · Near-term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402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1A2420"/>
                </a:solidFill>
                <a:latin typeface="Calibri"/>
              </a:rPr>
              <a:t>Natural-language preferences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32888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30" b="0" i="0">
                <a:solidFill>
                  <a:srgbClr val="5B6A64"/>
                </a:solidFill>
                <a:latin typeface="Calibri"/>
              </a:rPr>
              <a:t>“Stop calling me, keep outage texts” → proposed change → customer confirms → normal trusted path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447288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1A2420"/>
                </a:solidFill>
                <a:latin typeface="Calibri"/>
              </a:rPr>
              <a:t>CSR copilot (Service Cloud V2)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39896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30" b="0" i="0">
                <a:solidFill>
                  <a:srgbClr val="5B6A64"/>
                </a:solidFill>
                <a:latin typeface="Calibri"/>
              </a:rPr>
              <a:t>Audit-trail summaries, “why no letters?” answers, case-note drafts — check Joule extensibility first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600200"/>
            <a:ext cx="3611880" cy="3063240"/>
          </a:xfrm>
          <a:prstGeom prst="roundRect">
            <a:avLst>
              <a:gd name="adj" fmla="val 6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7830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6B4FBB"/>
                </a:solidFill>
                <a:latin typeface="Calibri"/>
              </a:rPr>
              <a:t>Wave 2 · With 6–12 mo of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2402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1A2420"/>
                </a:solidFill>
                <a:latin typeface="Calibri"/>
              </a:rPr>
              <a:t>Channel &amp; send-time propensity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532888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30" b="0" i="0">
                <a:solidFill>
                  <a:srgbClr val="5B6A64"/>
                </a:solidFill>
                <a:latin typeface="Calibri"/>
              </a:rPr>
              <a:t>Learn what each customer responds to; surfaced as recommended defaults — decision stays in BRFplus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447288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1A2420"/>
                </a:solidFill>
                <a:latin typeface="Calibri"/>
              </a:rPr>
              <a:t>Opt-out / fatigue risk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739896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30" b="0" i="0">
                <a:solidFill>
                  <a:srgbClr val="5B6A64"/>
                </a:solidFill>
                <a:latin typeface="Calibri"/>
              </a:rPr>
              <a:t>Throttle before one more message tips a customer into full DNC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600200"/>
            <a:ext cx="3611880" cy="3063240"/>
          </a:xfrm>
          <a:prstGeom prst="roundRect">
            <a:avLst>
              <a:gd name="adj" fmla="val 6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17830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6B4FBB"/>
                </a:solidFill>
                <a:latin typeface="Calibri"/>
              </a:rPr>
              <a:t>Wave 3 · Governance-mature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2402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1A2420"/>
                </a:solidFill>
                <a:latin typeface="Calibri"/>
              </a:rPr>
              <a:t>Compliance anomaly detection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532888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30" b="0" i="0">
                <a:solidFill>
                  <a:srgbClr val="5B6A64"/>
                </a:solidFill>
                <a:latin typeface="Calibri"/>
              </a:rPr>
              <a:t>CSR bulk-change patterns, opt-out spikes, DNC drift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3447288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1A2420"/>
                </a:solidFill>
                <a:latin typeface="Calibri"/>
              </a:rPr>
              <a:t>Template intelligence + Energy Advisor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739896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30" b="0" i="0">
                <a:solidFill>
                  <a:srgbClr val="5B6A64"/>
                </a:solidFill>
                <a:latin typeface="Calibri"/>
              </a:rPr>
              <a:t>Tone/translation variants (PAST_DUE excluded); rate Q&amp;A grounded in the deterministic engine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89204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EEE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047488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6B4FBB"/>
                </a:solidFill>
                <a:latin typeface="Calibri"/>
              </a:rPr>
              <a:t>Red lines (structural, not policy)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413248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indent="-137160" marL="137160">
              <a:spcAft>
                <a:spcPts val="600"/>
              </a:spcAft>
              <a:buChar char="•"/>
            </a:pPr>
            <a:r>
              <a:rPr sz="1200" b="0" i="0">
                <a:solidFill>
                  <a:srgbClr val="1A2420"/>
                </a:solidFill>
                <a:latin typeface="Calibri"/>
              </a:rPr>
              <a:t>AI never makes the send/suppress decision — BRFplus only.  AI never writes — every change passes confirmation, identity guard, validation and audit.</a:t>
            </a:r>
          </a:p>
          <a:p>
            <a:pPr algn="l" indent="-137160" marL="137160">
              <a:spcAft>
                <a:spcPts val="600"/>
              </a:spcAft>
              <a:buChar char="•"/>
            </a:pPr>
            <a:r>
              <a:rPr sz="1200" b="0" i="0">
                <a:solidFill>
                  <a:srgbClr val="1A2420"/>
                </a:solidFill>
                <a:latin typeface="Calibri"/>
              </a:rPr>
              <a:t>Regulatory wording and financial figures stay outside generative scope. Consent gates AI data use — the CPC enforces its own AI governance.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A2420"/>
                </a:solidFill>
                <a:latin typeface="Calibri"/>
              </a:rPr>
              <a:t>Delivery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A64"/>
                </a:solidFill>
                <a:latin typeface="Calibri"/>
              </a:rPr>
              <a:t>Indicative — refined in a one-week discovery that validates landscape-dependent items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847088"/>
            <a:ext cx="512064" cy="512064"/>
          </a:xfrm>
          <a:prstGeom prst="ellipse">
            <a:avLst/>
          </a:prstGeom>
          <a:solidFill>
            <a:srgbClr val="B879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17320" y="1645920"/>
            <a:ext cx="10195560" cy="914400"/>
          </a:xfrm>
          <a:prstGeom prst="roundRect">
            <a:avLst>
              <a:gd name="adj" fmla="val 6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91640" y="175564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2420"/>
                </a:solidFill>
                <a:latin typeface="Calibri"/>
              </a:rPr>
              <a:t>Discovery &amp; validation   </a:t>
            </a:r>
          </a:p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084A3E"/>
                </a:solidFill>
                <a:latin typeface="Calibri"/>
              </a:rPr>
              <a:t>~1 wk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121408"/>
            <a:ext cx="9692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5B6A64"/>
                </a:solidFill>
                <a:latin typeface="Calibri"/>
              </a:rPr>
              <a:t>Confirm S/4 release APIs &amp; event mechanism, option A/B, master-data source, workbook sign-off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926080"/>
            <a:ext cx="512064" cy="512064"/>
          </a:xfrm>
          <a:prstGeom prst="ellipse">
            <a:avLst/>
          </a:prstGeom>
          <a:solidFill>
            <a:srgbClr val="0A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17320" y="2724912"/>
            <a:ext cx="10195560" cy="914400"/>
          </a:xfrm>
          <a:prstGeom prst="roundRect">
            <a:avLst>
              <a:gd name="adj" fmla="val 6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91640" y="283464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2420"/>
                </a:solidFill>
                <a:latin typeface="Calibri"/>
              </a:rPr>
              <a:t>S/4 core   </a:t>
            </a:r>
          </a:p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084A3E"/>
                </a:solidFill>
                <a:latin typeface="Calibri"/>
              </a:rPr>
              <a:t>6–8 wks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00400"/>
            <a:ext cx="9692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5B6A64"/>
                </a:solidFill>
                <a:latin typeface="Calibri"/>
              </a:rPr>
              <a:t>Tables, CDS, RAP service, BRFplus app + seed content, event enhancements, roles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005072"/>
            <a:ext cx="512064" cy="512064"/>
          </a:xfrm>
          <a:prstGeom prst="ellipse">
            <a:avLst/>
          </a:prstGeom>
          <a:solidFill>
            <a:srgbClr val="0A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17320" y="3803904"/>
            <a:ext cx="10195560" cy="914400"/>
          </a:xfrm>
          <a:prstGeom prst="roundRect">
            <a:avLst>
              <a:gd name="adj" fmla="val 6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91640" y="391363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2420"/>
                </a:solidFill>
                <a:latin typeface="Calibri"/>
              </a:rPr>
              <a:t>BTP &amp; Service Cloud   </a:t>
            </a:r>
          </a:p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084A3E"/>
                </a:solidFill>
                <a:latin typeface="Calibri"/>
              </a:rPr>
              <a:t>3–4 wks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279392"/>
            <a:ext cx="9692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5B6A64"/>
                </a:solidFill>
                <a:latin typeface="Calibri"/>
              </a:rPr>
              <a:t>Deploy iFlows, Event Mesh queues, destinations, mashup rollout, providers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084064"/>
            <a:ext cx="512064" cy="512064"/>
          </a:xfrm>
          <a:prstGeom prst="ellipse">
            <a:avLst/>
          </a:prstGeom>
          <a:solidFill>
            <a:srgbClr val="0A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17320" y="4882896"/>
            <a:ext cx="10195560" cy="914400"/>
          </a:xfrm>
          <a:prstGeom prst="roundRect">
            <a:avLst>
              <a:gd name="adj" fmla="val 6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91640" y="499262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2420"/>
                </a:solidFill>
                <a:latin typeface="Calibri"/>
              </a:rPr>
              <a:t>Migrate &amp; cut over   </a:t>
            </a:r>
          </a:p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084A3E"/>
                </a:solidFill>
                <a:latin typeface="Calibri"/>
              </a:rPr>
              <a:t>3–4 wks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358384"/>
            <a:ext cx="9692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5B6A64"/>
                </a:solidFill>
                <a:latin typeface="Calibri"/>
              </a:rPr>
              <a:t>Legacy preference migration, reconciliation, parallel-run, go-live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6035040"/>
            <a:ext cx="11064240" cy="502920"/>
          </a:xfrm>
          <a:prstGeom prst="roundRect">
            <a:avLst>
              <a:gd name="adj" fmla="val 6000"/>
            </a:avLst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6126480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084A3E"/>
                </a:solidFill>
                <a:latin typeface="Calibri"/>
              </a:rPr>
              <a:t>Total: ~13–18 weeks to production (Option A).  Option B (S/4 CRM WebClient front end) adds ~3 weeks.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8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 i="0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737360"/>
            <a:ext cx="566928" cy="566928"/>
          </a:xfrm>
          <a:prstGeom prst="ellipse">
            <a:avLst/>
          </a:prstGeom>
          <a:solidFill>
            <a:srgbClr val="0A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719072"/>
            <a:ext cx="9875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See it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139696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9FB6AD"/>
                </a:solidFill>
                <a:latin typeface="Calibri"/>
              </a:rPr>
              <a:t>Walk the portal and the Service Cloud V2 preference mashup with your CSR team (links below)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971800"/>
            <a:ext cx="566928" cy="566928"/>
          </a:xfrm>
          <a:prstGeom prst="ellipse">
            <a:avLst/>
          </a:prstGeom>
          <a:solidFill>
            <a:srgbClr val="0A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953512"/>
            <a:ext cx="9875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One-week discovery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374136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9FB6AD"/>
                </a:solidFill>
                <a:latin typeface="Calibri"/>
              </a:rPr>
              <a:t>Validate the landscape-dependent items and confirm Option A scope &amp; commercials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206240"/>
            <a:ext cx="566928" cy="566928"/>
          </a:xfrm>
          <a:prstGeom prst="ellipse">
            <a:avLst/>
          </a:prstGeom>
          <a:solidFill>
            <a:srgbClr val="0A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4187952"/>
            <a:ext cx="9875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Mobilize Phase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4608576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9FB6AD"/>
                </a:solidFill>
                <a:latin typeface="Calibri"/>
              </a:rPr>
              <a:t>S/4 core build starts with the delivered DDL, CDS, BRFplus content and iFlow projects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349240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142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486400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AE4DC"/>
                </a:solidFill>
                <a:latin typeface="Calibri"/>
              </a:rPr>
              <a:t>Live demos:  nammi2011.github.io/Smart-Grid-Portal  ·  /cpc/   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9FB6AD"/>
                </a:solidFill>
                <a:latin typeface="Calibri"/>
              </a:rPr>
              <a:t>Full documentation, DDL, seed workbook and CPI projects accompany this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